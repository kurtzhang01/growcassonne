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建议讲解：15 秒</a:t>
            </a:r>
          </a:p>
          <a:p/>
          <a:p>
            <a:r>
              <a:t>大家好，这是花满洪山，一款把洪山的山水、高校与科创建筑带上棋盘的轻策略游戏。玩家不只是参观地标，而是通过播种、开发、连路和天气，让自己的花色在城市里生长。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建议讲解：23 秒</a:t>
            </a:r>
          </a:p>
          <a:p/>
          <a:p>
            <a:r>
              <a:t>我们用三个维度理解洪山的多样性。山水生态被转化为不同的地块与生长条件；高校文化由图书馆和校园建筑承载；科创空间则成为能影响周边的建筑节点。它们不是互不相关的装饰，而是在同一张棋盘上彼此影响。这里的多样性是城市文化与景观的设计表达，不是现实生态普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建议讲解：28 秒</a:t>
            </a:r>
          </a:p>
          <a:p/>
          <a:p>
            <a:r>
              <a:t>游戏支持一到四人，竞争玩法建议两到四人。每位玩家选择一种花色，开局有五张播种卡。回合开始，从开发、道路、天气三个公共卡堆中任意组合抽三张，然后自由出牌。结束回合后，依次结算地块变化、花朵增值和扩散，再轮到下一位。每人行动十次后，比花朵总数；平局再比占据的植物地块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建议讲解：33 秒</a:t>
            </a:r>
          </a:p>
          <a:p/>
          <a:p>
            <a:r>
              <a:t>播种卡把十到五十朵自己的花放到未满的植物地块。开发卡把山体变成一组随机地形，建筑开发卡则把缺口变成指定建筑。道路卡连续拖动连接两到四格。天气卡改变全局：极端天气持续三回合并降低生长率；彩虹清除极端天气并增强生长与扩散。先把卡拖出手牌，再预览或放置，不会因为点一下就误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建议讲解：27 秒</a:t>
            </a:r>
          </a:p>
          <a:p/>
          <a:p>
            <a:r>
              <a:t>森林容量八十、生长率百分之四十，草地是五十和百分之三十，荒漠是三十和百分之二十。环境不是固定的：植物地块会受邻居和天气影响，逐级升级或退化。水域能使周围八格的植物升级概率翻倍，建筑则让同样范围内的花朵容量翻倍。多个同类增益不叠加。因此，抢好的位置和营造好的邻居同样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建议讲解：28 秒</a:t>
            </a:r>
          </a:p>
          <a:p/>
          <a:p>
            <a:r>
              <a:t>开发不是逐个点格子，而是放置一到四格的组合。整组必须覆盖山体，并至少有一格与已开发区正交相邻。被开发区完全包围的内部山体会成为缺口，之后才能用建筑卡建造。建成建筑会获得一级播种卡。道路的开放端点全部连接并形成闭合区域后，满足花朵条件的玩家获得播种卡，每条闭环只奖励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建议讲解：28 秒</a:t>
            </a:r>
          </a:p>
          <a:p/>
          <a:p>
            <a:r>
              <a:t>这里展示两座洪山建筑的实景与游戏模型。左边是武汉理工大学南湖图书馆，我们保留阶梯体量和横向层次，让知识空间成为一级建筑。右边是洪山科创大厦，保留塔楼、玻璃幕墙和裙房的辨识特征，作为两格的二级建筑。它们在游戏中提供共同的周边增益，是把大学与产业的城市联系转化为玩法的设计表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建议讲解：26 秒</a:t>
            </a:r>
          </a:p>
          <a:p/>
          <a:p>
            <a:r>
              <a:t>华中科技大学的建筑卡参考校园红色山墙建筑，照片和模型都能看到这一轮廓。武汉大学牌坊也进入了游戏，作为武汉周边高校文化的联动元素。需要明确，武汉大学本部位于武昌区，所以我们没有把它当作洪山区行政范围内的地标。模型采用简化色块与两档阴影，追求棋盘里的清晰识别，而不是测绘级复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建议讲解：18 秒</a:t>
            </a:r>
          </a:p>
          <a:p/>
          <a:p>
            <a:r>
              <a:t>花满洪山希望玩家通过一次次选择，认识城市中不同空间的关系。山水地块让人理解环境影响，建筑卡让校园和科创地标可识别，道路和天气则带来取舍。最终，玩家留下的不只是一张高分棋盘，也是对洪山的生态、人文与创新气质的一次主动探索。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建议讲解：0 秒</a:t>
            </a:r>
          </a:p>
          <a:p/>
          <a:p>
            <a:r>
              <a:t>本页备查，不纳入三到四分钟讲解。照片仅用于建筑造型对照与项目介绍，权利归原作者，未确认公开再分发许可。公开展播或商业使用前应确认授权或替换为自摄照片。PPT采用当前拉取版本8e40b2d；README个别奖励和旧容量描述与代码不一致，数值及奖励说明以当前代码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jpg"/><Relationship Id="rId4" Type="http://schemas.openxmlformats.org/officeDocument/2006/relationships/image" Target="../media/image4.png"/><Relationship Id="rId5" Type="http://schemas.openxmlformats.org/officeDocument/2006/relationships/image" Target="../media/image14.jp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jpg"/><Relationship Id="rId4" Type="http://schemas.openxmlformats.org/officeDocument/2006/relationships/image" Target="../media/image16.png"/><Relationship Id="rId5" Type="http://schemas.openxmlformats.org/officeDocument/2006/relationships/image" Target="../media/image17.jpg"/><Relationship Id="rId6" Type="http://schemas.openxmlformats.org/officeDocument/2006/relationships/image" Target="../media/image18.png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gooood.cn/library-of-south-lake-campus-of-wuhan-university-of-technology-china-by-architectural-design-and-research-institute-of-scut.htm" TargetMode="External"/><Relationship Id="rId4" Type="http://schemas.openxmlformats.org/officeDocument/2006/relationships/hyperlink" Target="https://kjj.wuhan.gov.cn/xwzx_8/gzdt/202406/t20240618_2417645.html" TargetMode="External"/><Relationship Id="rId5" Type="http://schemas.openxmlformats.org/officeDocument/2006/relationships/hyperlink" Target="https://www.sicas.cn/School/183/Contents/110815105210771.shtml" TargetMode="External"/><Relationship Id="rId6" Type="http://schemas.openxmlformats.org/officeDocument/2006/relationships/hyperlink" Target="https://service.whu.edu.cn/" TargetMode="Externa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10896"/>
            <a:ext cx="13752576" cy="438912"/>
          </a:xfrm>
          <a:prstGeom prst="rect">
            <a:avLst/>
          </a:prstGeom>
          <a:solidFill>
            <a:srgbClr val="E7EEE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402336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627571"/>
                </a:solidFill>
                <a:latin typeface="Microsoft YaHei"/>
                <a:ea typeface="Microsoft YaHei"/>
              </a:rPr>
              <a:t>花满洪山  /  HONGSHAN IN BLOOM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02336"/>
            <a:ext cx="362102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627571"/>
                </a:solidFill>
                <a:latin typeface="Microsoft YaHei"/>
                <a:ea typeface="Microsoft YaHei"/>
              </a:rPr>
              <a:t>作品介绍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8181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627571"/>
                </a:solidFill>
                <a:latin typeface="Microsoft YaHei"/>
                <a:ea typeface="Microsoft YaHei"/>
              </a:rPr>
              <a:t>洪山区多样性主题游戏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627571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88136"/>
            <a:ext cx="8869680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64" b="1">
                <a:solidFill>
                  <a:srgbClr val="203A36"/>
                </a:solidFill>
                <a:latin typeface="KaiTi"/>
                <a:ea typeface="KaiTi"/>
              </a:rPr>
              <a:t>花满洪山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551176"/>
            <a:ext cx="1143000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20" b="0">
                <a:solidFill>
                  <a:srgbClr val="203A36"/>
                </a:solidFill>
                <a:latin typeface="Microsoft YaHei"/>
                <a:ea typeface="Microsoft YaHei"/>
              </a:rPr>
              <a:t>让一座大学之城，在棋盘上开花。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9544"/>
            <a:ext cx="10424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627571"/>
                </a:solidFill>
                <a:latin typeface="Microsoft YaHei"/>
                <a:ea typeface="Microsoft YaHei"/>
              </a:rPr>
              <a:t>2.5D 地块  ·  卡牌策略  ·  城市文化</a:t>
            </a:r>
          </a:p>
        </p:txBody>
      </p:sp>
      <p:pic>
        <p:nvPicPr>
          <p:cNvPr id="11" name="Picture 10" descr="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2512" y="2953512"/>
            <a:ext cx="9851136" cy="46177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0652760" y="1591056"/>
            <a:ext cx="3337560" cy="1408176"/>
          </a:xfrm>
          <a:prstGeom prst="rect">
            <a:avLst/>
          </a:prstGeom>
          <a:solidFill>
            <a:srgbClr val="EDF2F2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63072" y="1773936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36795A"/>
                </a:solidFill>
                <a:latin typeface="Microsoft YaHei"/>
                <a:ea typeface="Microsoft YaHei"/>
              </a:rPr>
              <a:t>山水 / 人文 / 创新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63072" y="2231136"/>
            <a:ext cx="29718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627571"/>
                </a:solidFill>
                <a:latin typeface="Microsoft YaHei"/>
                <a:ea typeface="Microsoft YaHei"/>
              </a:rPr>
              <a:t>洪山区多样性主题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627571"/>
                </a:solidFill>
                <a:latin typeface="Microsoft YaHei"/>
                <a:ea typeface="Microsoft YaHei"/>
              </a:rPr>
              <a:t>Hongshan in Bloom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10896"/>
            <a:ext cx="13752576" cy="438912"/>
          </a:xfrm>
          <a:prstGeom prst="rect">
            <a:avLst/>
          </a:prstGeom>
          <a:solidFill>
            <a:srgbClr val="E7EEE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402336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627571"/>
                </a:solidFill>
                <a:latin typeface="Microsoft YaHei"/>
                <a:ea typeface="Microsoft YaHei"/>
              </a:rPr>
              <a:t>花满洪山  /  HONGSHAN IN BLOOM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02336"/>
            <a:ext cx="362102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627571"/>
                </a:solidFill>
                <a:latin typeface="Microsoft YaHei"/>
                <a:ea typeface="Microsoft YaHei"/>
              </a:rPr>
              <a:t>01 / 设计出发点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88136"/>
            <a:ext cx="1335024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887" b="1">
                <a:solidFill>
                  <a:srgbClr val="203A36"/>
                </a:solidFill>
                <a:latin typeface="Microsoft YaHei"/>
                <a:ea typeface="Microsoft YaHei"/>
              </a:rPr>
              <a:t>把城市的多样性，变成可玩的关系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8181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627571"/>
                </a:solidFill>
                <a:latin typeface="Microsoft YaHei"/>
                <a:ea typeface="Microsoft YaHei"/>
              </a:rPr>
              <a:t>洪山区多样性主题游戏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627571"/>
                </a:solidFill>
                <a:latin typeface="Microsoft YaHei"/>
                <a:ea typeface="Microsoft YaHei"/>
              </a:rPr>
              <a:t>02</a:t>
            </a:r>
          </a:p>
        </p:txBody>
      </p:sp>
      <p:pic>
        <p:nvPicPr>
          <p:cNvPr id="9" name="Picture 8" descr="terrain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2029968"/>
            <a:ext cx="3429000" cy="2514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6384" y="4910328"/>
            <a:ext cx="9144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24" b="1">
                <a:solidFill>
                  <a:srgbClr val="36795A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5541264"/>
            <a:ext cx="3840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>
                <a:solidFill>
                  <a:srgbClr val="203A36"/>
                </a:solidFill>
                <a:latin typeface="Microsoft YaHei"/>
                <a:ea typeface="Microsoft YaHei"/>
              </a:rPr>
              <a:t>山水生态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6044184"/>
            <a:ext cx="38404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627571"/>
                </a:solidFill>
                <a:latin typeface="Microsoft YaHei"/>
                <a:ea typeface="Microsoft YaHei"/>
              </a:rPr>
              <a:t>森林、草地与水域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627571"/>
                </a:solidFill>
                <a:latin typeface="Microsoft YaHei"/>
                <a:ea typeface="Microsoft YaHei"/>
              </a:rPr>
              <a:t>共同塑造生长环境</a:t>
            </a:r>
          </a:p>
        </p:txBody>
      </p:sp>
      <p:pic>
        <p:nvPicPr>
          <p:cNvPr id="13" name="Picture 12" descr="libr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0276" y="2029968"/>
            <a:ext cx="2734439" cy="2514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77256" y="4910328"/>
            <a:ext cx="9144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24" b="1">
                <a:solidFill>
                  <a:srgbClr val="36795A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77256" y="5541264"/>
            <a:ext cx="3840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>
                <a:solidFill>
                  <a:srgbClr val="203A36"/>
                </a:solidFill>
                <a:latin typeface="Microsoft YaHei"/>
                <a:ea typeface="Microsoft YaHei"/>
              </a:rPr>
              <a:t>大学文化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77256" y="6044184"/>
            <a:ext cx="38404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627571"/>
                </a:solidFill>
                <a:latin typeface="Microsoft YaHei"/>
                <a:ea typeface="Microsoft YaHei"/>
              </a:rPr>
              <a:t>图书馆与校园地标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627571"/>
                </a:solidFill>
                <a:latin typeface="Microsoft YaHei"/>
                <a:ea typeface="Microsoft YaHei"/>
              </a:rPr>
              <a:t>承载学习与城市记忆</a:t>
            </a:r>
          </a:p>
        </p:txBody>
      </p:sp>
      <p:pic>
        <p:nvPicPr>
          <p:cNvPr id="17" name="Picture 16" descr="hongsh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8042" y="2029968"/>
            <a:ext cx="2260650" cy="2514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168128" y="4910328"/>
            <a:ext cx="9144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24" b="1">
                <a:solidFill>
                  <a:srgbClr val="36795A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68128" y="5541264"/>
            <a:ext cx="3840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>
                <a:solidFill>
                  <a:srgbClr val="203A36"/>
                </a:solidFill>
                <a:latin typeface="Microsoft YaHei"/>
                <a:ea typeface="Microsoft YaHei"/>
              </a:rPr>
              <a:t>科创空间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68128" y="6044184"/>
            <a:ext cx="38404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627571"/>
                </a:solidFill>
                <a:latin typeface="Microsoft YaHei"/>
                <a:ea typeface="Microsoft YaHei"/>
              </a:rPr>
              <a:t>科创楼宇进入棋盘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627571"/>
                </a:solidFill>
                <a:latin typeface="Microsoft YaHei"/>
                <a:ea typeface="Microsoft YaHei"/>
              </a:rPr>
              <a:t>转化为周边增益节点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10896"/>
            <a:ext cx="13752576" cy="438912"/>
          </a:xfrm>
          <a:prstGeom prst="rect">
            <a:avLst/>
          </a:prstGeom>
          <a:solidFill>
            <a:srgbClr val="E7EEE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402336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627571"/>
                </a:solidFill>
                <a:latin typeface="Microsoft YaHei"/>
                <a:ea typeface="Microsoft YaHei"/>
              </a:rPr>
              <a:t>花满洪山  /  HONGSHAN IN BLOOM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02336"/>
            <a:ext cx="362102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627571"/>
                </a:solidFill>
                <a:latin typeface="Microsoft YaHei"/>
                <a:ea typeface="Microsoft YaHei"/>
              </a:rPr>
              <a:t>02 / 玩法总览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88136"/>
            <a:ext cx="1335024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887" b="1">
                <a:solidFill>
                  <a:srgbClr val="203A36"/>
                </a:solidFill>
                <a:latin typeface="Microsoft YaHei"/>
                <a:ea typeface="Microsoft YaHei"/>
              </a:rPr>
              <a:t>一回合：抽 3 张，出牌，再生长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8181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627571"/>
                </a:solidFill>
                <a:latin typeface="Microsoft YaHei"/>
                <a:ea typeface="Microsoft YaHei"/>
              </a:rPr>
              <a:t>洪山区多样性主题游戏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627571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40280"/>
            <a:ext cx="9144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24" b="1">
                <a:solidFill>
                  <a:srgbClr val="36795A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871216"/>
            <a:ext cx="39319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>
                <a:solidFill>
                  <a:srgbClr val="203A36"/>
                </a:solidFill>
                <a:latin typeface="Microsoft YaHei"/>
                <a:ea typeface="Microsoft YaHei"/>
              </a:rPr>
              <a:t>抽牌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374136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627571"/>
                </a:solidFill>
                <a:latin typeface="Microsoft YaHei"/>
                <a:ea typeface="Microsoft YaHei"/>
              </a:rPr>
              <a:t>三个公共卡堆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627571"/>
                </a:solidFill>
                <a:latin typeface="Microsoft YaHei"/>
                <a:ea typeface="Microsoft YaHei"/>
              </a:rPr>
              <a:t>任意组合抽取 3 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3248" y="2240280"/>
            <a:ext cx="9144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24" b="1">
                <a:solidFill>
                  <a:srgbClr val="36795A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3248" y="2871216"/>
            <a:ext cx="39319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>
                <a:solidFill>
                  <a:srgbClr val="203A36"/>
                </a:solidFill>
                <a:latin typeface="Microsoft YaHei"/>
                <a:ea typeface="Microsoft YaHei"/>
              </a:rPr>
              <a:t>出牌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3248" y="3374136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627571"/>
                </a:solidFill>
                <a:latin typeface="Microsoft YaHei"/>
                <a:ea typeface="Microsoft YaHei"/>
              </a:rPr>
              <a:t>可使用任意数量手牌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627571"/>
                </a:solidFill>
                <a:latin typeface="Microsoft YaHei"/>
                <a:ea typeface="Microsoft YaHei"/>
              </a:rPr>
              <a:t>也可以直接结束回合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13264" y="2240280"/>
            <a:ext cx="9144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24" b="1">
                <a:solidFill>
                  <a:srgbClr val="36795A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13264" y="2871216"/>
            <a:ext cx="39319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>
                <a:solidFill>
                  <a:srgbClr val="203A36"/>
                </a:solidFill>
                <a:latin typeface="Microsoft YaHei"/>
                <a:ea typeface="Microsoft YaHei"/>
              </a:rPr>
              <a:t>结算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264" y="3374136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627571"/>
                </a:solidFill>
                <a:latin typeface="Microsoft YaHei"/>
                <a:ea typeface="Microsoft YaHei"/>
              </a:rPr>
              <a:t>地块变化 → 花朵增值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627571"/>
                </a:solidFill>
                <a:latin typeface="Microsoft YaHei"/>
                <a:ea typeface="Microsoft YaHei"/>
              </a:rPr>
              <a:t>→ 花朵扩散 → 下一位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047488"/>
            <a:ext cx="13313664" cy="2176272"/>
          </a:xfrm>
          <a:prstGeom prst="rect">
            <a:avLst/>
          </a:prstGeom>
          <a:solidFill>
            <a:srgbClr val="EDF2F1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0120" y="5340096"/>
            <a:ext cx="109728" cy="393192"/>
          </a:xfrm>
          <a:prstGeom prst="rect">
            <a:avLst/>
          </a:prstGeom>
          <a:solidFill>
            <a:srgbClr val="D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16152" y="5404104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D83232"/>
                </a:solidFill>
                <a:latin typeface="Microsoft YaHei"/>
                <a:ea typeface="Microsoft YaHei"/>
              </a:rPr>
              <a:t>虞美人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5340096"/>
            <a:ext cx="109728" cy="393192"/>
          </a:xfrm>
          <a:prstGeom prst="rect">
            <a:avLst/>
          </a:prstGeom>
          <a:solidFill>
            <a:srgbClr val="8C4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73552" y="5404104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8C4EDB"/>
                </a:solidFill>
                <a:latin typeface="Microsoft YaHei"/>
                <a:ea typeface="Microsoft YaHei"/>
              </a:rPr>
              <a:t>风铃草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74920" y="5340096"/>
            <a:ext cx="109728" cy="393192"/>
          </a:xfrm>
          <a:prstGeom prst="rect">
            <a:avLst/>
          </a:prstGeom>
          <a:solidFill>
            <a:srgbClr val="E08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30952" y="5404104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E0802F"/>
                </a:solidFill>
                <a:latin typeface="Microsoft YaHei"/>
                <a:ea typeface="Microsoft YaHei"/>
              </a:rPr>
              <a:t>万寿菊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5340096"/>
            <a:ext cx="109728" cy="393192"/>
          </a:xfrm>
          <a:prstGeom prst="rect">
            <a:avLst/>
          </a:prstGeom>
          <a:solidFill>
            <a:srgbClr val="1C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88352" y="5404104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1C497D"/>
                </a:solidFill>
                <a:latin typeface="Microsoft YaHei"/>
                <a:ea typeface="Microsoft YaHei"/>
              </a:rPr>
              <a:t>鸢尾花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" y="6089904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>
                <a:solidFill>
                  <a:srgbClr val="203A36"/>
                </a:solidFill>
                <a:latin typeface="Microsoft YaHei"/>
                <a:ea typeface="Microsoft YaHei"/>
              </a:rPr>
              <a:t>每人 5 张起始播种卡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" y="6592824"/>
            <a:ext cx="1197864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43" b="0">
                <a:solidFill>
                  <a:srgbClr val="627571"/>
                </a:solidFill>
                <a:latin typeface="Microsoft YaHei"/>
                <a:ea typeface="Microsoft YaHei"/>
              </a:rPr>
              <a:t>每人行动 10 次后，花朵最多者获胜。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10896"/>
            <a:ext cx="13752576" cy="438912"/>
          </a:xfrm>
          <a:prstGeom prst="rect">
            <a:avLst/>
          </a:prstGeom>
          <a:solidFill>
            <a:srgbClr val="E7EEE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402336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627571"/>
                </a:solidFill>
                <a:latin typeface="Microsoft YaHei"/>
                <a:ea typeface="Microsoft YaHei"/>
              </a:rPr>
              <a:t>花满洪山  /  HONGSHAN IN BLOOM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02336"/>
            <a:ext cx="362102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627571"/>
                </a:solidFill>
                <a:latin typeface="Microsoft YaHei"/>
                <a:ea typeface="Microsoft YaHei"/>
              </a:rPr>
              <a:t>03 / 卡牌操作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88136"/>
            <a:ext cx="1335024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887" b="1">
                <a:solidFill>
                  <a:srgbClr val="203A36"/>
                </a:solidFill>
                <a:latin typeface="Microsoft YaHei"/>
                <a:ea typeface="Microsoft YaHei"/>
              </a:rPr>
              <a:t>四类卡牌，四种改变棋盘的方式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8181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627571"/>
                </a:solidFill>
                <a:latin typeface="Microsoft YaHei"/>
                <a:ea typeface="Microsoft YaHei"/>
              </a:rPr>
              <a:t>洪山区多样性主题游戏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627571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" y="2203704"/>
            <a:ext cx="2514600" cy="3227832"/>
          </a:xfrm>
          <a:prstGeom prst="rect">
            <a:avLst/>
          </a:prstGeom>
          <a:solidFill>
            <a:srgbClr val="B4B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2103120"/>
            <a:ext cx="2514600" cy="3227832"/>
          </a:xfrm>
          <a:prstGeom prst="rect">
            <a:avLst/>
          </a:prstGeom>
          <a:solidFill>
            <a:srgbClr val="4F9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2148840"/>
            <a:ext cx="2423160" cy="58150"/>
          </a:xfrm>
          <a:prstGeom prst="rect">
            <a:avLst/>
          </a:prstGeom>
          <a:solidFill>
            <a:srgbClr val="4F9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0392" y="2197846"/>
            <a:ext cx="2423160" cy="58150"/>
          </a:xfrm>
          <a:prstGeom prst="rect">
            <a:avLst/>
          </a:prstGeom>
          <a:solidFill>
            <a:srgbClr val="559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0392" y="2246852"/>
            <a:ext cx="2423160" cy="58150"/>
          </a:xfrm>
          <a:prstGeom prst="rect">
            <a:avLst/>
          </a:prstGeom>
          <a:solidFill>
            <a:srgbClr val="5BA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" y="2295858"/>
            <a:ext cx="2423160" cy="58150"/>
          </a:xfrm>
          <a:prstGeom prst="rect">
            <a:avLst/>
          </a:prstGeom>
          <a:solidFill>
            <a:srgbClr val="62A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" y="2344864"/>
            <a:ext cx="2423160" cy="58150"/>
          </a:xfrm>
          <a:prstGeom prst="rect">
            <a:avLst/>
          </a:prstGeom>
          <a:solidFill>
            <a:srgbClr val="68A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0392" y="2393870"/>
            <a:ext cx="2423160" cy="58150"/>
          </a:xfrm>
          <a:prstGeom prst="rect">
            <a:avLst/>
          </a:prstGeom>
          <a:solidFill>
            <a:srgbClr val="6EA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" y="2442876"/>
            <a:ext cx="2423160" cy="58150"/>
          </a:xfrm>
          <a:prstGeom prst="rect">
            <a:avLst/>
          </a:prstGeom>
          <a:solidFill>
            <a:srgbClr val="74B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0392" y="2491882"/>
            <a:ext cx="2423160" cy="58150"/>
          </a:xfrm>
          <a:prstGeom prst="rect">
            <a:avLst/>
          </a:prstGeom>
          <a:solidFill>
            <a:srgbClr val="7AB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0392" y="2540889"/>
            <a:ext cx="2423160" cy="58150"/>
          </a:xfrm>
          <a:prstGeom prst="rect">
            <a:avLst/>
          </a:prstGeom>
          <a:solidFill>
            <a:srgbClr val="81B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0392" y="2589895"/>
            <a:ext cx="2423160" cy="58150"/>
          </a:xfrm>
          <a:prstGeom prst="rect">
            <a:avLst/>
          </a:prstGeom>
          <a:solidFill>
            <a:srgbClr val="87B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0392" y="2638901"/>
            <a:ext cx="2423160" cy="58150"/>
          </a:xfrm>
          <a:prstGeom prst="rect">
            <a:avLst/>
          </a:prstGeom>
          <a:solidFill>
            <a:srgbClr val="8DB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" y="2687907"/>
            <a:ext cx="2423160" cy="58150"/>
          </a:xfrm>
          <a:prstGeom prst="rect">
            <a:avLst/>
          </a:prstGeom>
          <a:solidFill>
            <a:srgbClr val="93C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0392" y="2736913"/>
            <a:ext cx="2423160" cy="58150"/>
          </a:xfrm>
          <a:prstGeom prst="rect">
            <a:avLst/>
          </a:prstGeom>
          <a:solidFill>
            <a:srgbClr val="99C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0392" y="2785919"/>
            <a:ext cx="2423160" cy="58150"/>
          </a:xfrm>
          <a:prstGeom prst="rect">
            <a:avLst/>
          </a:prstGeom>
          <a:solidFill>
            <a:srgbClr val="A0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0392" y="2834925"/>
            <a:ext cx="2423160" cy="58150"/>
          </a:xfrm>
          <a:prstGeom prst="rect">
            <a:avLst/>
          </a:prstGeom>
          <a:solidFill>
            <a:srgbClr val="A6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0392" y="2883931"/>
            <a:ext cx="2423160" cy="58150"/>
          </a:xfrm>
          <a:prstGeom prst="rect">
            <a:avLst/>
          </a:prstGeom>
          <a:solidFill>
            <a:srgbClr val="ACD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0392" y="2932938"/>
            <a:ext cx="2423160" cy="58150"/>
          </a:xfrm>
          <a:prstGeom prst="rect">
            <a:avLst/>
          </a:prstGeom>
          <a:solidFill>
            <a:srgbClr val="B2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" y="2981944"/>
            <a:ext cx="2423160" cy="58150"/>
          </a:xfrm>
          <a:prstGeom prst="rect">
            <a:avLst/>
          </a:prstGeom>
          <a:solidFill>
            <a:srgbClr val="B9D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392" y="3030950"/>
            <a:ext cx="2423160" cy="58150"/>
          </a:xfrm>
          <a:prstGeom prst="rect">
            <a:avLst/>
          </a:prstGeom>
          <a:solidFill>
            <a:srgbClr val="BFD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392" y="3079956"/>
            <a:ext cx="2423160" cy="58150"/>
          </a:xfrm>
          <a:prstGeom prst="rect">
            <a:avLst/>
          </a:prstGeom>
          <a:solidFill>
            <a:srgbClr val="C5D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392" y="3128962"/>
            <a:ext cx="2423160" cy="58150"/>
          </a:xfrm>
          <a:prstGeom prst="rect">
            <a:avLst/>
          </a:prstGeom>
          <a:solidFill>
            <a:srgbClr val="CBE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392" y="3177968"/>
            <a:ext cx="2423160" cy="58150"/>
          </a:xfrm>
          <a:prstGeom prst="rect">
            <a:avLst/>
          </a:prstGeom>
          <a:solidFill>
            <a:srgbClr val="D1E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0392" y="3226974"/>
            <a:ext cx="2423160" cy="58150"/>
          </a:xfrm>
          <a:prstGeom prst="rect">
            <a:avLst/>
          </a:prstGeom>
          <a:solidFill>
            <a:srgbClr val="D8E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" y="3275980"/>
            <a:ext cx="2423160" cy="58150"/>
          </a:xfrm>
          <a:prstGeom prst="rect">
            <a:avLst/>
          </a:prstGeom>
          <a:solidFill>
            <a:srgbClr val="DEE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0392" y="3324987"/>
            <a:ext cx="2423160" cy="58150"/>
          </a:xfrm>
          <a:prstGeom prst="rect">
            <a:avLst/>
          </a:prstGeom>
          <a:solidFill>
            <a:srgbClr val="E4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0392" y="3373993"/>
            <a:ext cx="2423160" cy="58150"/>
          </a:xfrm>
          <a:prstGeom prst="rect">
            <a:avLst/>
          </a:prstGeom>
          <a:solidFill>
            <a:srgbClr val="EA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50392" y="3422999"/>
            <a:ext cx="2423160" cy="58150"/>
          </a:xfrm>
          <a:prstGeom prst="rect">
            <a:avLst/>
          </a:prstGeom>
          <a:solidFill>
            <a:srgbClr val="F0F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0392" y="3472005"/>
            <a:ext cx="2423160" cy="58150"/>
          </a:xfrm>
          <a:prstGeom prst="rect">
            <a:avLst/>
          </a:prstGeom>
          <a:solidFill>
            <a:srgbClr val="F7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0392" y="3521011"/>
            <a:ext cx="2423160" cy="58150"/>
          </a:xfrm>
          <a:prstGeom prst="rect">
            <a:avLst/>
          </a:prstGeom>
          <a:solidFill>
            <a:srgbClr val="FDF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" y="3570017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0392" y="3619023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0392" y="3668029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0392" y="3717036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0392" y="3766042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50392" y="3815048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0392" y="3864054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50392" y="3913060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50392" y="3962066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50392" y="4011072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50392" y="4060078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0392" y="4109085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50392" y="4158091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50392" y="4207097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50392" y="4256103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50392" y="4305109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50392" y="4354115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50392" y="4403121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50392" y="4452127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50392" y="4501134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50392" y="4550140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50392" y="4599146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50392" y="4648152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50392" y="4697158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50392" y="4746164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50392" y="4795170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50392" y="4844176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50392" y="4893183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50392" y="4942189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50392" y="4991195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50392" y="5040201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50392" y="5089207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50392" y="5138213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50392" y="5187219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50392" y="5236225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87552" y="2276856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203A36"/>
                </a:solidFill>
                <a:latin typeface="Microsoft YaHei"/>
                <a:ea typeface="Microsoft YaHei"/>
              </a:rPr>
              <a:t>播种卡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24912" y="2304288"/>
            <a:ext cx="365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>
                <a:solidFill>
                  <a:srgbClr val="203A36"/>
                </a:solidFill>
                <a:latin typeface="Microsoft YaHei"/>
                <a:ea typeface="Microsoft YaHei"/>
              </a:rPr>
              <a:t>I–V</a:t>
            </a:r>
          </a:p>
        </p:txBody>
      </p:sp>
      <p:pic>
        <p:nvPicPr>
          <p:cNvPr id="77" name="Picture 76" descr="terrain-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1" y="2901188"/>
            <a:ext cx="2057400" cy="154940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978408" y="4718304"/>
            <a:ext cx="216712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03A36"/>
                </a:solidFill>
                <a:latin typeface="Microsoft YaHei"/>
                <a:ea typeface="Microsoft YaHei"/>
              </a:rPr>
              <a:t>增加 10–50 朵花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0664" y="5760720"/>
            <a:ext cx="2834640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27571"/>
                </a:solidFill>
                <a:latin typeface="Microsoft YaHei"/>
                <a:ea typeface="Microsoft YaHei"/>
              </a:rPr>
              <a:t>只能播种在未满的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27571"/>
                </a:solidFill>
                <a:latin typeface="Microsoft YaHei"/>
                <a:ea typeface="Microsoft YaHei"/>
              </a:rPr>
              <a:t>森林、草地、荒漠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407408" y="2203704"/>
            <a:ext cx="2514600" cy="3227832"/>
          </a:xfrm>
          <a:prstGeom prst="rect">
            <a:avLst/>
          </a:prstGeom>
          <a:solidFill>
            <a:srgbClr val="B4B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334256" y="2103120"/>
            <a:ext cx="2514600" cy="3227832"/>
          </a:xfrm>
          <a:prstGeom prst="rect">
            <a:avLst/>
          </a:prstGeom>
          <a:solidFill>
            <a:srgbClr val="C47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379976" y="2148840"/>
            <a:ext cx="2423160" cy="58150"/>
          </a:xfrm>
          <a:prstGeom prst="rect">
            <a:avLst/>
          </a:prstGeom>
          <a:solidFill>
            <a:srgbClr val="C47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379976" y="2197846"/>
            <a:ext cx="2423160" cy="58150"/>
          </a:xfrm>
          <a:prstGeom prst="rect">
            <a:avLst/>
          </a:prstGeom>
          <a:solidFill>
            <a:srgbClr val="C6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379976" y="2246852"/>
            <a:ext cx="2423160" cy="58150"/>
          </a:xfrm>
          <a:prstGeom prst="rect">
            <a:avLst/>
          </a:prstGeom>
          <a:solidFill>
            <a:srgbClr val="C78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379976" y="2295858"/>
            <a:ext cx="2423160" cy="58150"/>
          </a:xfrm>
          <a:prstGeom prst="rect">
            <a:avLst/>
          </a:prstGeom>
          <a:solidFill>
            <a:srgbClr val="C98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379976" y="2344864"/>
            <a:ext cx="2423160" cy="58150"/>
          </a:xfrm>
          <a:prstGeom prst="rect">
            <a:avLst/>
          </a:prstGeom>
          <a:solidFill>
            <a:srgbClr val="CA8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379976" y="2393870"/>
            <a:ext cx="2423160" cy="58150"/>
          </a:xfrm>
          <a:prstGeom prst="rect">
            <a:avLst/>
          </a:prstGeom>
          <a:solidFill>
            <a:srgbClr val="CC8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379976" y="2442876"/>
            <a:ext cx="2423160" cy="58150"/>
          </a:xfrm>
          <a:prstGeom prst="rect">
            <a:avLst/>
          </a:prstGeom>
          <a:solidFill>
            <a:srgbClr val="CD8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379976" y="2491882"/>
            <a:ext cx="2423160" cy="58150"/>
          </a:xfrm>
          <a:prstGeom prst="rect">
            <a:avLst/>
          </a:prstGeom>
          <a:solidFill>
            <a:srgbClr val="CF8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379976" y="2540889"/>
            <a:ext cx="2423160" cy="58150"/>
          </a:xfrm>
          <a:prstGeom prst="rect">
            <a:avLst/>
          </a:prstGeom>
          <a:solidFill>
            <a:srgbClr val="D09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379976" y="2589895"/>
            <a:ext cx="2423160" cy="58150"/>
          </a:xfrm>
          <a:prstGeom prst="rect">
            <a:avLst/>
          </a:prstGeom>
          <a:solidFill>
            <a:srgbClr val="D29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379976" y="2638901"/>
            <a:ext cx="2423160" cy="58150"/>
          </a:xfrm>
          <a:prstGeom prst="rect">
            <a:avLst/>
          </a:prstGeom>
          <a:solidFill>
            <a:srgbClr val="D49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379976" y="2687907"/>
            <a:ext cx="2423160" cy="58150"/>
          </a:xfrm>
          <a:prstGeom prst="rect">
            <a:avLst/>
          </a:prstGeom>
          <a:solidFill>
            <a:srgbClr val="D5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379976" y="2736913"/>
            <a:ext cx="2423160" cy="58150"/>
          </a:xfrm>
          <a:prstGeom prst="rect">
            <a:avLst/>
          </a:prstGeom>
          <a:solidFill>
            <a:srgbClr val="D79E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379976" y="2785919"/>
            <a:ext cx="2423160" cy="58150"/>
          </a:xfrm>
          <a:prstGeom prst="rect">
            <a:avLst/>
          </a:prstGeom>
          <a:solidFill>
            <a:srgbClr val="D8A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379976" y="2834925"/>
            <a:ext cx="2423160" cy="58150"/>
          </a:xfrm>
          <a:prstGeom prst="rect">
            <a:avLst/>
          </a:prstGeom>
          <a:solidFill>
            <a:srgbClr val="DAA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379976" y="2883931"/>
            <a:ext cx="2423160" cy="58150"/>
          </a:xfrm>
          <a:prstGeom prst="rect">
            <a:avLst/>
          </a:prstGeom>
          <a:solidFill>
            <a:srgbClr val="DB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379976" y="2932938"/>
            <a:ext cx="2423160" cy="58150"/>
          </a:xfrm>
          <a:prstGeom prst="rect">
            <a:avLst/>
          </a:prstGeom>
          <a:solidFill>
            <a:srgbClr val="DDA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379976" y="2981944"/>
            <a:ext cx="2423160" cy="58150"/>
          </a:xfrm>
          <a:prstGeom prst="rect">
            <a:avLst/>
          </a:prstGeom>
          <a:solidFill>
            <a:srgbClr val="DEA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379976" y="3030950"/>
            <a:ext cx="2423160" cy="58150"/>
          </a:xfrm>
          <a:prstGeom prst="rect">
            <a:avLst/>
          </a:prstGeom>
          <a:solidFill>
            <a:srgbClr val="E0B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379976" y="3079956"/>
            <a:ext cx="2423160" cy="58150"/>
          </a:xfrm>
          <a:prstGeom prst="rect">
            <a:avLst/>
          </a:prstGeom>
          <a:solidFill>
            <a:srgbClr val="E1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379976" y="3128962"/>
            <a:ext cx="2423160" cy="58150"/>
          </a:xfrm>
          <a:prstGeom prst="rect">
            <a:avLst/>
          </a:prstGeom>
          <a:solidFill>
            <a:srgbClr val="E3B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379976" y="3177968"/>
            <a:ext cx="2423160" cy="58150"/>
          </a:xfrm>
          <a:prstGeom prst="rect">
            <a:avLst/>
          </a:prstGeom>
          <a:solidFill>
            <a:srgbClr val="E5B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379976" y="3226974"/>
            <a:ext cx="2423160" cy="58150"/>
          </a:xfrm>
          <a:prstGeom prst="rect">
            <a:avLst/>
          </a:prstGeom>
          <a:solidFill>
            <a:srgbClr val="E6B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379976" y="3275980"/>
            <a:ext cx="2423160" cy="58150"/>
          </a:xfrm>
          <a:prstGeom prst="rect">
            <a:avLst/>
          </a:prstGeom>
          <a:solidFill>
            <a:srgbClr val="E8C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379976" y="3324987"/>
            <a:ext cx="2423160" cy="58150"/>
          </a:xfrm>
          <a:prstGeom prst="rect">
            <a:avLst/>
          </a:prstGeom>
          <a:solidFill>
            <a:srgbClr val="E9C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379976" y="3373993"/>
            <a:ext cx="2423160" cy="58150"/>
          </a:xfrm>
          <a:prstGeom prst="rect">
            <a:avLst/>
          </a:prstGeom>
          <a:solidFill>
            <a:srgbClr val="EBC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379976" y="3422999"/>
            <a:ext cx="2423160" cy="58150"/>
          </a:xfrm>
          <a:prstGeom prst="rect">
            <a:avLst/>
          </a:prstGeom>
          <a:solidFill>
            <a:srgbClr val="EC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379976" y="3472005"/>
            <a:ext cx="2423160" cy="58150"/>
          </a:xfrm>
          <a:prstGeom prst="rect">
            <a:avLst/>
          </a:prstGeom>
          <a:solidFill>
            <a:srgbClr val="EEC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379976" y="3521011"/>
            <a:ext cx="2423160" cy="58150"/>
          </a:xfrm>
          <a:prstGeom prst="rect">
            <a:avLst/>
          </a:prstGeom>
          <a:solidFill>
            <a:srgbClr val="EFC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379976" y="3570017"/>
            <a:ext cx="2423160" cy="58150"/>
          </a:xfrm>
          <a:prstGeom prst="rect">
            <a:avLst/>
          </a:prstGeom>
          <a:solidFill>
            <a:srgbClr val="F0D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379976" y="3619023"/>
            <a:ext cx="2423160" cy="58150"/>
          </a:xfrm>
          <a:prstGeom prst="rect">
            <a:avLst/>
          </a:prstGeom>
          <a:solidFill>
            <a:srgbClr val="F1D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379976" y="3668029"/>
            <a:ext cx="2423160" cy="58150"/>
          </a:xfrm>
          <a:prstGeom prst="rect">
            <a:avLst/>
          </a:prstGeom>
          <a:solidFill>
            <a:srgbClr val="F1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379976" y="3717036"/>
            <a:ext cx="2423160" cy="58150"/>
          </a:xfrm>
          <a:prstGeom prst="rect">
            <a:avLst/>
          </a:prstGeom>
          <a:solidFill>
            <a:srgbClr val="F2D5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379976" y="3766042"/>
            <a:ext cx="2423160" cy="58150"/>
          </a:xfrm>
          <a:prstGeom prst="rect">
            <a:avLst/>
          </a:prstGeom>
          <a:solidFill>
            <a:srgbClr val="F2D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379976" y="3815048"/>
            <a:ext cx="2423160" cy="58150"/>
          </a:xfrm>
          <a:prstGeom prst="rect">
            <a:avLst/>
          </a:prstGeom>
          <a:solidFill>
            <a:srgbClr val="F2D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379976" y="3864054"/>
            <a:ext cx="2423160" cy="58150"/>
          </a:xfrm>
          <a:prstGeom prst="rect">
            <a:avLst/>
          </a:prstGeom>
          <a:solidFill>
            <a:srgbClr val="F3D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379976" y="3913060"/>
            <a:ext cx="2423160" cy="58150"/>
          </a:xfrm>
          <a:prstGeom prst="rect">
            <a:avLst/>
          </a:prstGeom>
          <a:solidFill>
            <a:srgbClr val="F3D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379976" y="3962066"/>
            <a:ext cx="2423160" cy="58150"/>
          </a:xfrm>
          <a:prstGeom prst="rect">
            <a:avLst/>
          </a:prstGeom>
          <a:solidFill>
            <a:srgbClr val="F4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379976" y="4011072"/>
            <a:ext cx="2423160" cy="58150"/>
          </a:xfrm>
          <a:prstGeom prst="rect">
            <a:avLst/>
          </a:prstGeom>
          <a:solidFill>
            <a:srgbClr val="F4D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379976" y="4060078"/>
            <a:ext cx="2423160" cy="58150"/>
          </a:xfrm>
          <a:prstGeom prst="rect">
            <a:avLst/>
          </a:prstGeom>
          <a:solidFill>
            <a:srgbClr val="F5D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379976" y="4109085"/>
            <a:ext cx="2423160" cy="58150"/>
          </a:xfrm>
          <a:prstGeom prst="rect">
            <a:avLst/>
          </a:prstGeom>
          <a:solidFill>
            <a:srgbClr val="F5E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379976" y="4158091"/>
            <a:ext cx="2423160" cy="58150"/>
          </a:xfrm>
          <a:prstGeom prst="rect">
            <a:avLst/>
          </a:prstGeom>
          <a:solidFill>
            <a:srgbClr val="F5E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379976" y="4207097"/>
            <a:ext cx="2423160" cy="58150"/>
          </a:xfrm>
          <a:prstGeom prst="rect">
            <a:avLst/>
          </a:prstGeom>
          <a:solidFill>
            <a:srgbClr val="F6E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379976" y="4256103"/>
            <a:ext cx="2423160" cy="58150"/>
          </a:xfrm>
          <a:prstGeom prst="rect">
            <a:avLst/>
          </a:prstGeom>
          <a:solidFill>
            <a:srgbClr val="F6E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379976" y="4305109"/>
            <a:ext cx="2423160" cy="58150"/>
          </a:xfrm>
          <a:prstGeom prst="rect">
            <a:avLst/>
          </a:prstGeom>
          <a:solidFill>
            <a:srgbClr val="F7E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379976" y="4354115"/>
            <a:ext cx="2423160" cy="58150"/>
          </a:xfrm>
          <a:prstGeom prst="rect">
            <a:avLst/>
          </a:prstGeom>
          <a:solidFill>
            <a:srgbClr val="F7E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79976" y="4403121"/>
            <a:ext cx="2423160" cy="58150"/>
          </a:xfrm>
          <a:prstGeom prst="rect">
            <a:avLst/>
          </a:prstGeom>
          <a:solidFill>
            <a:srgbClr val="F8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79976" y="4452127"/>
            <a:ext cx="2423160" cy="58150"/>
          </a:xfrm>
          <a:prstGeom prst="rect">
            <a:avLst/>
          </a:prstGeom>
          <a:solidFill>
            <a:srgbClr val="F8E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79976" y="4501134"/>
            <a:ext cx="2423160" cy="58150"/>
          </a:xfrm>
          <a:prstGeom prst="rect">
            <a:avLst/>
          </a:prstGeom>
          <a:solidFill>
            <a:srgbClr val="F9E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79976" y="4550140"/>
            <a:ext cx="2423160" cy="58150"/>
          </a:xfrm>
          <a:prstGeom prst="rect">
            <a:avLst/>
          </a:prstGeom>
          <a:solidFill>
            <a:srgbClr val="F9E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79976" y="4599146"/>
            <a:ext cx="2423160" cy="58150"/>
          </a:xfrm>
          <a:prstGeom prst="rect">
            <a:avLst/>
          </a:prstGeom>
          <a:solidFill>
            <a:srgbClr val="F9E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79976" y="4648152"/>
            <a:ext cx="2423160" cy="58150"/>
          </a:xfrm>
          <a:prstGeom prst="rect">
            <a:avLst/>
          </a:prstGeom>
          <a:solidFill>
            <a:srgbClr val="FAE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79976" y="4697158"/>
            <a:ext cx="2423160" cy="58150"/>
          </a:xfrm>
          <a:prstGeom prst="rect">
            <a:avLst/>
          </a:prstGeom>
          <a:solidFill>
            <a:srgbClr val="FA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379976" y="4746164"/>
            <a:ext cx="2423160" cy="58150"/>
          </a:xfrm>
          <a:prstGeom prst="rect">
            <a:avLst/>
          </a:prstGeom>
          <a:solidFill>
            <a:srgbClr val="FB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379976" y="4795170"/>
            <a:ext cx="2423160" cy="58150"/>
          </a:xfrm>
          <a:prstGeom prst="rect">
            <a:avLst/>
          </a:prstGeom>
          <a:solidFill>
            <a:srgbClr val="FB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379976" y="4844176"/>
            <a:ext cx="2423160" cy="58150"/>
          </a:xfrm>
          <a:prstGeom prst="rect">
            <a:avLst/>
          </a:prstGeom>
          <a:solidFill>
            <a:srgbClr val="FCF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379976" y="4893183"/>
            <a:ext cx="2423160" cy="58150"/>
          </a:xfrm>
          <a:prstGeom prst="rect">
            <a:avLst/>
          </a:prstGeom>
          <a:solidFill>
            <a:srgbClr val="FC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379976" y="4942189"/>
            <a:ext cx="2423160" cy="58150"/>
          </a:xfrm>
          <a:prstGeom prst="rect">
            <a:avLst/>
          </a:prstGeom>
          <a:solidFill>
            <a:srgbClr val="FCF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379976" y="4991195"/>
            <a:ext cx="2423160" cy="58150"/>
          </a:xfrm>
          <a:prstGeom prst="rect">
            <a:avLst/>
          </a:prstGeom>
          <a:solidFill>
            <a:srgbClr val="FDF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379976" y="5040201"/>
            <a:ext cx="2423160" cy="58150"/>
          </a:xfrm>
          <a:prstGeom prst="rect">
            <a:avLst/>
          </a:prstGeom>
          <a:solidFill>
            <a:srgbClr val="FDF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4379976" y="5089207"/>
            <a:ext cx="2423160" cy="58150"/>
          </a:xfrm>
          <a:prstGeom prst="rect">
            <a:avLst/>
          </a:prstGeom>
          <a:solidFill>
            <a:srgbClr val="FE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4379976" y="5138213"/>
            <a:ext cx="2423160" cy="58150"/>
          </a:xfrm>
          <a:prstGeom prst="rect">
            <a:avLst/>
          </a:prstGeom>
          <a:solidFill>
            <a:srgbClr val="FE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4379976" y="5187219"/>
            <a:ext cx="2423160" cy="58150"/>
          </a:xfrm>
          <a:prstGeom prst="rect">
            <a:avLst/>
          </a:prstGeom>
          <a:solidFill>
            <a:srgbClr val="FFF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4379976" y="5236225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517136" y="2276856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203A36"/>
                </a:solidFill>
                <a:latin typeface="Microsoft YaHei"/>
                <a:ea typeface="Microsoft YaHei"/>
              </a:rPr>
              <a:t>开发卡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254496" y="2304288"/>
            <a:ext cx="365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>
                <a:solidFill>
                  <a:srgbClr val="203A36"/>
                </a:solidFill>
                <a:latin typeface="Microsoft YaHei"/>
                <a:ea typeface="Microsoft YaHei"/>
              </a:rPr>
              <a:t>I–IV</a:t>
            </a:r>
          </a:p>
        </p:txBody>
      </p:sp>
      <p:pic>
        <p:nvPicPr>
          <p:cNvPr id="148" name="Picture 147" descr="terrain-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56" y="2880868"/>
            <a:ext cx="2057400" cy="1590040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4507992" y="4718304"/>
            <a:ext cx="216712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03A36"/>
                </a:solidFill>
                <a:latin typeface="Microsoft YaHei"/>
                <a:ea typeface="Microsoft YaHei"/>
              </a:rPr>
              <a:t>开发山体 / 建造建筑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270248" y="5760720"/>
            <a:ext cx="2834640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27571"/>
                </a:solidFill>
                <a:latin typeface="Microsoft YaHei"/>
                <a:ea typeface="Microsoft YaHei"/>
              </a:rPr>
              <a:t>先看随机地形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27571"/>
                </a:solidFill>
                <a:latin typeface="Microsoft YaHei"/>
                <a:ea typeface="Microsoft YaHei"/>
              </a:rPr>
              <a:t>再旋转、选择位置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936992" y="2203704"/>
            <a:ext cx="2514600" cy="3227832"/>
          </a:xfrm>
          <a:prstGeom prst="rect">
            <a:avLst/>
          </a:prstGeom>
          <a:solidFill>
            <a:srgbClr val="B4B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863840" y="2103120"/>
            <a:ext cx="2514600" cy="3227832"/>
          </a:xfrm>
          <a:prstGeom prst="rect">
            <a:avLst/>
          </a:prstGeom>
          <a:solidFill>
            <a:srgbClr val="AE8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7909560" y="2148840"/>
            <a:ext cx="2423160" cy="58150"/>
          </a:xfrm>
          <a:prstGeom prst="rect">
            <a:avLst/>
          </a:prstGeom>
          <a:solidFill>
            <a:srgbClr val="AE8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7909560" y="2197846"/>
            <a:ext cx="2423160" cy="58150"/>
          </a:xfrm>
          <a:prstGeom prst="rect">
            <a:avLst/>
          </a:prstGeom>
          <a:solidFill>
            <a:srgbClr val="B18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7909560" y="2246852"/>
            <a:ext cx="2423160" cy="58150"/>
          </a:xfrm>
          <a:prstGeom prst="rect">
            <a:avLst/>
          </a:prstGeom>
          <a:solidFill>
            <a:srgbClr val="B49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7909560" y="2295858"/>
            <a:ext cx="2423160" cy="58150"/>
          </a:xfrm>
          <a:prstGeom prst="rect">
            <a:avLst/>
          </a:prstGeom>
          <a:solidFill>
            <a:srgbClr val="B79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7909560" y="2344864"/>
            <a:ext cx="2423160" cy="58150"/>
          </a:xfrm>
          <a:prstGeom prst="rect">
            <a:avLst/>
          </a:prstGeom>
          <a:solidFill>
            <a:srgbClr val="B99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7909560" y="2393870"/>
            <a:ext cx="2423160" cy="58150"/>
          </a:xfrm>
          <a:prstGeom prst="rect">
            <a:avLst/>
          </a:prstGeom>
          <a:solidFill>
            <a:srgbClr val="BC9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7909560" y="2442876"/>
            <a:ext cx="2423160" cy="58150"/>
          </a:xfrm>
          <a:prstGeom prst="rect">
            <a:avLst/>
          </a:prstGeom>
          <a:solidFill>
            <a:srgbClr val="BFA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7909560" y="2491882"/>
            <a:ext cx="2423160" cy="58150"/>
          </a:xfrm>
          <a:prstGeom prst="rect">
            <a:avLst/>
          </a:prstGeom>
          <a:solidFill>
            <a:srgbClr val="C2A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7909560" y="2540889"/>
            <a:ext cx="2423160" cy="58150"/>
          </a:xfrm>
          <a:prstGeom prst="rect">
            <a:avLst/>
          </a:prstGeom>
          <a:solidFill>
            <a:srgbClr val="C5A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7909560" y="2589895"/>
            <a:ext cx="2423160" cy="58150"/>
          </a:xfrm>
          <a:prstGeom prst="rect">
            <a:avLst/>
          </a:prstGeom>
          <a:solidFill>
            <a:srgbClr val="C8B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7909560" y="2638901"/>
            <a:ext cx="2423160" cy="58150"/>
          </a:xfrm>
          <a:prstGeom prst="rect">
            <a:avLst/>
          </a:prstGeom>
          <a:solidFill>
            <a:srgbClr val="CBB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909560" y="2687907"/>
            <a:ext cx="2423160" cy="58150"/>
          </a:xfrm>
          <a:prstGeom prst="rect">
            <a:avLst/>
          </a:prstGeom>
          <a:solidFill>
            <a:srgbClr val="CD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909560" y="2736913"/>
            <a:ext cx="2423160" cy="58150"/>
          </a:xfrm>
          <a:prstGeom prst="rect">
            <a:avLst/>
          </a:prstGeom>
          <a:solidFill>
            <a:srgbClr val="D0B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909560" y="2785919"/>
            <a:ext cx="2423160" cy="58150"/>
          </a:xfrm>
          <a:prstGeom prst="rect">
            <a:avLst/>
          </a:prstGeom>
          <a:solidFill>
            <a:srgbClr val="D3C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909560" y="2834925"/>
            <a:ext cx="2423160" cy="58150"/>
          </a:xfrm>
          <a:prstGeom prst="rect">
            <a:avLst/>
          </a:prstGeom>
          <a:solidFill>
            <a:srgbClr val="D6C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909560" y="2883931"/>
            <a:ext cx="2423160" cy="58150"/>
          </a:xfrm>
          <a:prstGeom prst="rect">
            <a:avLst/>
          </a:prstGeom>
          <a:solidFill>
            <a:srgbClr val="D9C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909560" y="2932938"/>
            <a:ext cx="2423160" cy="58150"/>
          </a:xfrm>
          <a:prstGeom prst="rect">
            <a:avLst/>
          </a:prstGeom>
          <a:solidFill>
            <a:srgbClr val="DCC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909560" y="2981944"/>
            <a:ext cx="2423160" cy="58150"/>
          </a:xfrm>
          <a:prstGeom prst="rect">
            <a:avLst/>
          </a:prstGeom>
          <a:solidFill>
            <a:srgbClr val="DFD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909560" y="3030950"/>
            <a:ext cx="2423160" cy="58150"/>
          </a:xfrm>
          <a:prstGeom prst="rect">
            <a:avLst/>
          </a:prstGeom>
          <a:solidFill>
            <a:srgbClr val="E1D5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909560" y="3079956"/>
            <a:ext cx="2423160" cy="58150"/>
          </a:xfrm>
          <a:prstGeom prst="rect">
            <a:avLst/>
          </a:prstGeom>
          <a:solidFill>
            <a:srgbClr val="E4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909560" y="3128962"/>
            <a:ext cx="2423160" cy="58150"/>
          </a:xfrm>
          <a:prstGeom prst="rect">
            <a:avLst/>
          </a:prstGeom>
          <a:solidFill>
            <a:srgbClr val="E7D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909560" y="3177968"/>
            <a:ext cx="2423160" cy="58150"/>
          </a:xfrm>
          <a:prstGeom prst="rect">
            <a:avLst/>
          </a:prstGeom>
          <a:solidFill>
            <a:srgbClr val="EAE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909560" y="3226974"/>
            <a:ext cx="2423160" cy="58150"/>
          </a:xfrm>
          <a:prstGeom prst="rect">
            <a:avLst/>
          </a:prstGeom>
          <a:solidFill>
            <a:srgbClr val="ED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09560" y="3275980"/>
            <a:ext cx="2423160" cy="58150"/>
          </a:xfrm>
          <a:prstGeom prst="rect">
            <a:avLst/>
          </a:prstGeom>
          <a:solidFill>
            <a:srgbClr val="F0E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09560" y="3324987"/>
            <a:ext cx="2423160" cy="58150"/>
          </a:xfrm>
          <a:prstGeom prst="rect">
            <a:avLst/>
          </a:prstGeom>
          <a:solidFill>
            <a:srgbClr val="F3E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09560" y="3373993"/>
            <a:ext cx="2423160" cy="58150"/>
          </a:xfrm>
          <a:prstGeom prst="rect">
            <a:avLst/>
          </a:prstGeom>
          <a:solidFill>
            <a:srgbClr val="F5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09560" y="3422999"/>
            <a:ext cx="2423160" cy="58150"/>
          </a:xfrm>
          <a:prstGeom prst="rect">
            <a:avLst/>
          </a:prstGeom>
          <a:solidFill>
            <a:srgbClr val="F8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909560" y="3472005"/>
            <a:ext cx="2423160" cy="58150"/>
          </a:xfrm>
          <a:prstGeom prst="rect">
            <a:avLst/>
          </a:prstGeom>
          <a:solidFill>
            <a:srgbClr val="FBF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09560" y="3521011"/>
            <a:ext cx="2423160" cy="58150"/>
          </a:xfrm>
          <a:prstGeom prst="rect">
            <a:avLst/>
          </a:prstGeom>
          <a:solidFill>
            <a:srgbClr val="FEF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7909560" y="3570017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7909560" y="3619023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7909560" y="3668029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7909560" y="3717036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7909560" y="3766042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7909560" y="3815048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909560" y="3864054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909560" y="3913060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909560" y="3962066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909560" y="4011072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7909560" y="4060078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909560" y="4109085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7909560" y="4158091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7909560" y="4207097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7909560" y="4256103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7909560" y="4305109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7909560" y="4354115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7909560" y="4403121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7909560" y="4452127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7909560" y="4501134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7909560" y="4550140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7909560" y="4599146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7909560" y="4648152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7909560" y="4697158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7909560" y="4746164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7909560" y="4795170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7909560" y="4844176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7909560" y="4893183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7909560" y="4942189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7909560" y="4991195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7909560" y="5040201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7909560" y="5089207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7909560" y="5138213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7909560" y="5187219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7909560" y="5236225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8046720" y="2276856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203A36"/>
                </a:solidFill>
                <a:latin typeface="Microsoft YaHei"/>
                <a:ea typeface="Microsoft YaHei"/>
              </a:rPr>
              <a:t>道路卡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9784080" y="2304288"/>
            <a:ext cx="365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>
                <a:solidFill>
                  <a:srgbClr val="203A36"/>
                </a:solidFill>
                <a:latin typeface="Microsoft YaHei"/>
                <a:ea typeface="Microsoft YaHei"/>
              </a:rPr>
              <a:t>I–III</a:t>
            </a:r>
          </a:p>
        </p:txBody>
      </p:sp>
      <p:pic>
        <p:nvPicPr>
          <p:cNvPr id="219" name="Picture 218" descr="terrain-ro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2901188"/>
            <a:ext cx="2057400" cy="1549400"/>
          </a:xfrm>
          <a:prstGeom prst="rect">
            <a:avLst/>
          </a:prstGeom>
        </p:spPr>
      </p:pic>
      <p:sp>
        <p:nvSpPr>
          <p:cNvPr id="220" name="TextBox 219"/>
          <p:cNvSpPr txBox="1"/>
          <p:nvPr/>
        </p:nvSpPr>
        <p:spPr>
          <a:xfrm>
            <a:off x="8037575" y="4718304"/>
            <a:ext cx="216712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03A36"/>
                </a:solidFill>
                <a:latin typeface="Microsoft YaHei"/>
                <a:ea typeface="Microsoft YaHei"/>
              </a:rPr>
              <a:t>连续拖动连接 2–4 格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7799831" y="5760720"/>
            <a:ext cx="2834640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27571"/>
                </a:solidFill>
                <a:latin typeface="Microsoft YaHei"/>
                <a:ea typeface="Microsoft YaHei"/>
              </a:rPr>
              <a:t>上下左右连续连接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27571"/>
                </a:solidFill>
                <a:latin typeface="Microsoft YaHei"/>
                <a:ea typeface="Microsoft YaHei"/>
              </a:rPr>
              <a:t>可以转弯和接入旧路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1466576" y="2203704"/>
            <a:ext cx="2514600" cy="3227832"/>
          </a:xfrm>
          <a:prstGeom prst="rect">
            <a:avLst/>
          </a:prstGeom>
          <a:solidFill>
            <a:srgbClr val="B4B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11393424" y="2103120"/>
            <a:ext cx="2514600" cy="3227832"/>
          </a:xfrm>
          <a:prstGeom prst="rect">
            <a:avLst/>
          </a:prstGeom>
          <a:solidFill>
            <a:srgbClr val="568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11439144" y="2148840"/>
            <a:ext cx="2423160" cy="58150"/>
          </a:xfrm>
          <a:prstGeom prst="rect">
            <a:avLst/>
          </a:prstGeom>
          <a:solidFill>
            <a:srgbClr val="568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11439144" y="2197846"/>
            <a:ext cx="2423160" cy="58150"/>
          </a:xfrm>
          <a:prstGeom prst="rect">
            <a:avLst/>
          </a:prstGeom>
          <a:solidFill>
            <a:srgbClr val="5A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11439144" y="2246852"/>
            <a:ext cx="2423160" cy="58150"/>
          </a:xfrm>
          <a:prstGeom prst="rect">
            <a:avLst/>
          </a:prstGeom>
          <a:solidFill>
            <a:srgbClr val="5F9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11439144" y="2295858"/>
            <a:ext cx="2423160" cy="58150"/>
          </a:xfrm>
          <a:prstGeom prst="rect">
            <a:avLst/>
          </a:prstGeom>
          <a:solidFill>
            <a:srgbClr val="639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1439144" y="2344864"/>
            <a:ext cx="2423160" cy="58150"/>
          </a:xfrm>
          <a:prstGeom prst="rect">
            <a:avLst/>
          </a:prstGeom>
          <a:solidFill>
            <a:srgbClr val="67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11439144" y="2393870"/>
            <a:ext cx="2423160" cy="58150"/>
          </a:xfrm>
          <a:prstGeom prst="rect">
            <a:avLst/>
          </a:prstGeom>
          <a:solidFill>
            <a:srgbClr val="6C9D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1439144" y="2442876"/>
            <a:ext cx="2423160" cy="58150"/>
          </a:xfrm>
          <a:prstGeom prst="rect">
            <a:avLst/>
          </a:prstGeom>
          <a:solidFill>
            <a:srgbClr val="70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1439144" y="2491882"/>
            <a:ext cx="2423160" cy="58150"/>
          </a:xfrm>
          <a:prstGeom prst="rect">
            <a:avLst/>
          </a:prstGeom>
          <a:solidFill>
            <a:srgbClr val="74A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1439144" y="2540889"/>
            <a:ext cx="2423160" cy="58150"/>
          </a:xfrm>
          <a:prstGeom prst="rect">
            <a:avLst/>
          </a:prstGeom>
          <a:solidFill>
            <a:srgbClr val="78A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11439144" y="2589895"/>
            <a:ext cx="2423160" cy="58150"/>
          </a:xfrm>
          <a:prstGeom prst="rect">
            <a:avLst/>
          </a:prstGeom>
          <a:solidFill>
            <a:srgbClr val="7DA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11439144" y="2638901"/>
            <a:ext cx="2423160" cy="58150"/>
          </a:xfrm>
          <a:prstGeom prst="rect">
            <a:avLst/>
          </a:prstGeom>
          <a:solidFill>
            <a:srgbClr val="81A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11439144" y="2687907"/>
            <a:ext cx="2423160" cy="58150"/>
          </a:xfrm>
          <a:prstGeom prst="rect">
            <a:avLst/>
          </a:prstGeom>
          <a:solidFill>
            <a:srgbClr val="85A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11439144" y="2736913"/>
            <a:ext cx="2423160" cy="58150"/>
          </a:xfrm>
          <a:prstGeom prst="rect">
            <a:avLst/>
          </a:prstGeom>
          <a:solidFill>
            <a:srgbClr val="8AB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11439144" y="2785919"/>
            <a:ext cx="2423160" cy="58150"/>
          </a:xfrm>
          <a:prstGeom prst="rect">
            <a:avLst/>
          </a:prstGeom>
          <a:solidFill>
            <a:srgbClr val="8EB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11439144" y="2834925"/>
            <a:ext cx="2423160" cy="58150"/>
          </a:xfrm>
          <a:prstGeom prst="rect">
            <a:avLst/>
          </a:prstGeom>
          <a:solidFill>
            <a:srgbClr val="92B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11439144" y="2883931"/>
            <a:ext cx="2423160" cy="58150"/>
          </a:xfrm>
          <a:prstGeom prst="rect">
            <a:avLst/>
          </a:prstGeom>
          <a:solidFill>
            <a:srgbClr val="97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11439144" y="2932938"/>
            <a:ext cx="2423160" cy="58150"/>
          </a:xfrm>
          <a:prstGeom prst="rect">
            <a:avLst/>
          </a:prstGeom>
          <a:solidFill>
            <a:srgbClr val="9BB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1439144" y="2981944"/>
            <a:ext cx="2423160" cy="58150"/>
          </a:xfrm>
          <a:prstGeom prst="rect">
            <a:avLst/>
          </a:prstGeom>
          <a:solidFill>
            <a:srgbClr val="9FC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11439144" y="3030950"/>
            <a:ext cx="2423160" cy="58150"/>
          </a:xfrm>
          <a:prstGeom prst="rect">
            <a:avLst/>
          </a:prstGeom>
          <a:solidFill>
            <a:srgbClr val="A3C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11439144" y="3079956"/>
            <a:ext cx="2423160" cy="58150"/>
          </a:xfrm>
          <a:prstGeom prst="rect">
            <a:avLst/>
          </a:prstGeom>
          <a:solidFill>
            <a:srgbClr val="A8C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11439144" y="3128962"/>
            <a:ext cx="2423160" cy="58150"/>
          </a:xfrm>
          <a:prstGeom prst="rect">
            <a:avLst/>
          </a:prstGeom>
          <a:solidFill>
            <a:srgbClr val="ACC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11439144" y="3177968"/>
            <a:ext cx="2423160" cy="58150"/>
          </a:xfrm>
          <a:prstGeom prst="rect">
            <a:avLst/>
          </a:prstGeom>
          <a:solidFill>
            <a:srgbClr val="B0C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11439144" y="3226974"/>
            <a:ext cx="2423160" cy="58150"/>
          </a:xfrm>
          <a:prstGeom prst="rect">
            <a:avLst/>
          </a:prstGeom>
          <a:solidFill>
            <a:srgbClr val="B5D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1439144" y="3275980"/>
            <a:ext cx="2423160" cy="58150"/>
          </a:xfrm>
          <a:prstGeom prst="rect">
            <a:avLst/>
          </a:prstGeom>
          <a:solidFill>
            <a:srgbClr val="B9D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1439144" y="3324987"/>
            <a:ext cx="2423160" cy="58150"/>
          </a:xfrm>
          <a:prstGeom prst="rect">
            <a:avLst/>
          </a:prstGeom>
          <a:solidFill>
            <a:srgbClr val="BDD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11439144" y="3373993"/>
            <a:ext cx="2423160" cy="58150"/>
          </a:xfrm>
          <a:prstGeom prst="rect">
            <a:avLst/>
          </a:prstGeom>
          <a:solidFill>
            <a:srgbClr val="C2D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11439144" y="3422999"/>
            <a:ext cx="2423160" cy="58150"/>
          </a:xfrm>
          <a:prstGeom prst="rect">
            <a:avLst/>
          </a:prstGeom>
          <a:solidFill>
            <a:srgbClr val="C6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11439144" y="3472005"/>
            <a:ext cx="2423160" cy="58150"/>
          </a:xfrm>
          <a:prstGeom prst="rect">
            <a:avLst/>
          </a:prstGeom>
          <a:solidFill>
            <a:srgbClr val="CAE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11439144" y="3521011"/>
            <a:ext cx="2423160" cy="58150"/>
          </a:xfrm>
          <a:prstGeom prst="rect">
            <a:avLst/>
          </a:prstGeom>
          <a:solidFill>
            <a:srgbClr val="CE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11439144" y="3570017"/>
            <a:ext cx="2423160" cy="58150"/>
          </a:xfrm>
          <a:prstGeom prst="rect">
            <a:avLst/>
          </a:prstGeom>
          <a:solidFill>
            <a:srgbClr val="D1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11439144" y="3619023"/>
            <a:ext cx="2423160" cy="58150"/>
          </a:xfrm>
          <a:prstGeom prst="rect">
            <a:avLst/>
          </a:prstGeom>
          <a:solidFill>
            <a:srgbClr val="D2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11439144" y="3668029"/>
            <a:ext cx="2423160" cy="58150"/>
          </a:xfrm>
          <a:prstGeom prst="rect">
            <a:avLst/>
          </a:prstGeom>
          <a:solidFill>
            <a:srgbClr val="D4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11439144" y="3717036"/>
            <a:ext cx="2423160" cy="58150"/>
          </a:xfrm>
          <a:prstGeom prst="rect">
            <a:avLst/>
          </a:prstGeom>
          <a:solidFill>
            <a:srgbClr val="D5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11439144" y="3766042"/>
            <a:ext cx="2423160" cy="58150"/>
          </a:xfrm>
          <a:prstGeom prst="rect">
            <a:avLst/>
          </a:prstGeom>
          <a:solidFill>
            <a:srgbClr val="D6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11439144" y="3815048"/>
            <a:ext cx="2423160" cy="58150"/>
          </a:xfrm>
          <a:prstGeom prst="rect">
            <a:avLst/>
          </a:prstGeom>
          <a:solidFill>
            <a:srgbClr val="D8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11439144" y="3864054"/>
            <a:ext cx="2423160" cy="58150"/>
          </a:xfrm>
          <a:prstGeom prst="rect">
            <a:avLst/>
          </a:prstGeom>
          <a:solidFill>
            <a:srgbClr val="D9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11439144" y="3913060"/>
            <a:ext cx="2423160" cy="58150"/>
          </a:xfrm>
          <a:prstGeom prst="rect">
            <a:avLst/>
          </a:prstGeom>
          <a:solidFill>
            <a:srgbClr val="DA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11439144" y="3962066"/>
            <a:ext cx="2423160" cy="58150"/>
          </a:xfrm>
          <a:prstGeom prst="rect">
            <a:avLst/>
          </a:prstGeom>
          <a:solidFill>
            <a:srgbClr val="DC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11439144" y="4011072"/>
            <a:ext cx="2423160" cy="58150"/>
          </a:xfrm>
          <a:prstGeom prst="rect">
            <a:avLst/>
          </a:prstGeom>
          <a:solidFill>
            <a:srgbClr val="DD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11439144" y="4060078"/>
            <a:ext cx="2423160" cy="58150"/>
          </a:xfrm>
          <a:prstGeom prst="rect">
            <a:avLst/>
          </a:prstGeom>
          <a:solidFill>
            <a:srgbClr val="DE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11439144" y="4109085"/>
            <a:ext cx="2423160" cy="58150"/>
          </a:xfrm>
          <a:prstGeom prst="rect">
            <a:avLst/>
          </a:prstGeom>
          <a:solidFill>
            <a:srgbClr val="E0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11439144" y="4158091"/>
            <a:ext cx="2423160" cy="58150"/>
          </a:xfrm>
          <a:prstGeom prst="rect">
            <a:avLst/>
          </a:prstGeom>
          <a:solidFill>
            <a:srgbClr val="E1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11439144" y="4207097"/>
            <a:ext cx="2423160" cy="58150"/>
          </a:xfrm>
          <a:prstGeom prst="rect">
            <a:avLst/>
          </a:prstGeom>
          <a:solidFill>
            <a:srgbClr val="E3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11439144" y="4256103"/>
            <a:ext cx="2423160" cy="58150"/>
          </a:xfrm>
          <a:prstGeom prst="rect">
            <a:avLst/>
          </a:prstGeom>
          <a:solidFill>
            <a:srgbClr val="E4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11439144" y="4305109"/>
            <a:ext cx="2423160" cy="58150"/>
          </a:xfrm>
          <a:prstGeom prst="rect">
            <a:avLst/>
          </a:prstGeom>
          <a:solidFill>
            <a:srgbClr val="E5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11439144" y="4354115"/>
            <a:ext cx="2423160" cy="58150"/>
          </a:xfrm>
          <a:prstGeom prst="rect">
            <a:avLst/>
          </a:prstGeom>
          <a:solidFill>
            <a:srgbClr val="E7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11439144" y="4403121"/>
            <a:ext cx="2423160" cy="58150"/>
          </a:xfrm>
          <a:prstGeom prst="rect">
            <a:avLst/>
          </a:prstGeom>
          <a:solidFill>
            <a:srgbClr val="E8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11439144" y="4452127"/>
            <a:ext cx="2423160" cy="58150"/>
          </a:xfrm>
          <a:prstGeom prst="rect">
            <a:avLst/>
          </a:prstGeom>
          <a:solidFill>
            <a:srgbClr val="E9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11439144" y="4501134"/>
            <a:ext cx="2423160" cy="58150"/>
          </a:xfrm>
          <a:prstGeom prst="rect">
            <a:avLst/>
          </a:prstGeom>
          <a:solidFill>
            <a:srgbClr val="EB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11439144" y="4550140"/>
            <a:ext cx="2423160" cy="58150"/>
          </a:xfrm>
          <a:prstGeom prst="rect">
            <a:avLst/>
          </a:prstGeom>
          <a:solidFill>
            <a:srgbClr val="EC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11439144" y="4599146"/>
            <a:ext cx="2423160" cy="58150"/>
          </a:xfrm>
          <a:prstGeom prst="rect">
            <a:avLst/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11439144" y="4648152"/>
            <a:ext cx="2423160" cy="58150"/>
          </a:xfrm>
          <a:prstGeom prst="rect">
            <a:avLst/>
          </a:prstGeom>
          <a:solidFill>
            <a:srgbClr val="EF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11439144" y="4697158"/>
            <a:ext cx="2423160" cy="58150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11439144" y="4746164"/>
            <a:ext cx="2423160" cy="58150"/>
          </a:xfrm>
          <a:prstGeom prst="rect">
            <a:avLst/>
          </a:prstGeom>
          <a:solidFill>
            <a:srgbClr val="F1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11439144" y="4795170"/>
            <a:ext cx="2423160" cy="58150"/>
          </a:xfrm>
          <a:prstGeom prst="rect">
            <a:avLst/>
          </a:prstGeom>
          <a:solidFill>
            <a:srgbClr val="F3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11439144" y="4844176"/>
            <a:ext cx="2423160" cy="58150"/>
          </a:xfrm>
          <a:prstGeom prst="rect">
            <a:avLst/>
          </a:prstGeom>
          <a:solidFill>
            <a:srgbClr val="F4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1439144" y="4893183"/>
            <a:ext cx="2423160" cy="58150"/>
          </a:xfrm>
          <a:prstGeom prst="rect">
            <a:avLst/>
          </a:prstGeom>
          <a:solidFill>
            <a:srgbClr val="F6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11439144" y="4942189"/>
            <a:ext cx="2423160" cy="58150"/>
          </a:xfrm>
          <a:prstGeom prst="rect">
            <a:avLst/>
          </a:prstGeom>
          <a:solidFill>
            <a:srgbClr val="F7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11439144" y="4991195"/>
            <a:ext cx="2423160" cy="58150"/>
          </a:xfrm>
          <a:prstGeom prst="rect">
            <a:avLst/>
          </a:prstGeom>
          <a:solidFill>
            <a:srgbClr val="F8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11439144" y="5040201"/>
            <a:ext cx="2423160" cy="58150"/>
          </a:xfrm>
          <a:prstGeom prst="rect">
            <a:avLst/>
          </a:prstGeom>
          <a:solidFill>
            <a:srgbClr val="FA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11439144" y="5089207"/>
            <a:ext cx="2423160" cy="58150"/>
          </a:xfrm>
          <a:prstGeom prst="rect">
            <a:avLst/>
          </a:prstGeom>
          <a:solidFill>
            <a:srgbClr val="FB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11439144" y="5138213"/>
            <a:ext cx="2423160" cy="58150"/>
          </a:xfrm>
          <a:prstGeom prst="rect">
            <a:avLst/>
          </a:prstGeom>
          <a:solidFill>
            <a:srgbClr val="FC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11439144" y="5187219"/>
            <a:ext cx="2423160" cy="58150"/>
          </a:xfrm>
          <a:prstGeom prst="rect">
            <a:avLst/>
          </a:prstGeom>
          <a:solidFill>
            <a:srgbClr val="FEF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11439144" y="5236225"/>
            <a:ext cx="2423160" cy="58150"/>
          </a:xfrm>
          <a:prstGeom prst="rect">
            <a:avLst/>
          </a:prstGeom>
          <a:solidFill>
            <a:srgbClr val="FF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11576304" y="2276856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203A36"/>
                </a:solidFill>
                <a:latin typeface="Microsoft YaHei"/>
                <a:ea typeface="Microsoft YaHei"/>
              </a:rPr>
              <a:t>天气卡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13313664" y="2304288"/>
            <a:ext cx="365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>
                <a:solidFill>
                  <a:srgbClr val="203A36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11713464" y="2770632"/>
            <a:ext cx="1874519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056" b="0">
                <a:solidFill>
                  <a:srgbClr val="619AB5"/>
                </a:solidFill>
                <a:latin typeface="Segoe UI Symbol"/>
                <a:ea typeface="Segoe UI Symbol"/>
              </a:rPr>
              <a:t>☁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11585448" y="4160520"/>
            <a:ext cx="2130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427F9C"/>
                </a:solidFill>
                <a:latin typeface="Microsoft YaHei"/>
                <a:ea typeface="Microsoft YaHei"/>
              </a:rPr>
              <a:t>雨  /  风  /  旱  /  虹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11567160" y="4718304"/>
            <a:ext cx="216712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03A36"/>
                </a:solidFill>
                <a:latin typeface="Microsoft YaHei"/>
                <a:ea typeface="Microsoft YaHei"/>
              </a:rPr>
              <a:t>改变本轮生长环境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11329416" y="5760720"/>
            <a:ext cx="2834640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27571"/>
                </a:solidFill>
                <a:latin typeface="Microsoft YaHei"/>
                <a:ea typeface="Microsoft YaHei"/>
              </a:rPr>
              <a:t>极端天气持续 3 回合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27571"/>
                </a:solidFill>
                <a:latin typeface="Microsoft YaHei"/>
                <a:ea typeface="Microsoft YaHei"/>
              </a:rPr>
              <a:t>彩虹清除极端天气</a:t>
            </a:r>
          </a:p>
        </p:txBody>
      </p:sp>
      <p:pic>
        <p:nvPicPr>
          <p:cNvPr id="294" name="Picture 293" descr="terrain-flowe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8760" y="3432723"/>
            <a:ext cx="402336" cy="614345"/>
          </a:xfrm>
          <a:prstGeom prst="rect">
            <a:avLst/>
          </a:prstGeom>
        </p:spPr>
      </p:pic>
      <p:pic>
        <p:nvPicPr>
          <p:cNvPr id="295" name="Picture 294" descr="terrain-flowe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3080" y="3542451"/>
            <a:ext cx="402336" cy="614345"/>
          </a:xfrm>
          <a:prstGeom prst="rect">
            <a:avLst/>
          </a:prstGeom>
        </p:spPr>
      </p:pic>
      <p:pic>
        <p:nvPicPr>
          <p:cNvPr id="296" name="Picture 295" descr="terrain-flowe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3432723"/>
            <a:ext cx="402336" cy="614345"/>
          </a:xfrm>
          <a:prstGeom prst="rect">
            <a:avLst/>
          </a:prstGeom>
        </p:spPr>
      </p:pic>
      <p:sp>
        <p:nvSpPr>
          <p:cNvPr id="297" name="TextBox 296"/>
          <p:cNvSpPr txBox="1"/>
          <p:nvPr/>
        </p:nvSpPr>
        <p:spPr>
          <a:xfrm>
            <a:off x="713232" y="7114032"/>
            <a:ext cx="1335024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203A36"/>
                </a:solidFill>
                <a:latin typeface="Microsoft YaHei"/>
                <a:ea typeface="Microsoft YaHei"/>
              </a:rPr>
              <a:t>拖出手牌 → 悬停预览 → 点击放置    /    Q、E 旋转    /    Esc 或右键取消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10896"/>
            <a:ext cx="13752576" cy="438912"/>
          </a:xfrm>
          <a:prstGeom prst="rect">
            <a:avLst/>
          </a:prstGeom>
          <a:solidFill>
            <a:srgbClr val="E7EEE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402336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627571"/>
                </a:solidFill>
                <a:latin typeface="Microsoft YaHei"/>
                <a:ea typeface="Microsoft YaHei"/>
              </a:rPr>
              <a:t>花满洪山  /  HONGSHAN IN BLOOM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02336"/>
            <a:ext cx="362102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627571"/>
                </a:solidFill>
                <a:latin typeface="Microsoft YaHei"/>
                <a:ea typeface="Microsoft YaHei"/>
              </a:rPr>
              <a:t>04 / 地块与增益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88136"/>
            <a:ext cx="1335024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887" b="1">
                <a:solidFill>
                  <a:srgbClr val="203A36"/>
                </a:solidFill>
                <a:latin typeface="Microsoft YaHei"/>
                <a:ea typeface="Microsoft YaHei"/>
              </a:rPr>
              <a:t>同一片土地，不同的生长选择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8181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627571"/>
                </a:solidFill>
                <a:latin typeface="Microsoft YaHei"/>
                <a:ea typeface="Microsoft YaHei"/>
              </a:rPr>
              <a:t>洪山区多样性主题游戏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627571"/>
                </a:solidFill>
                <a:latin typeface="Microsoft YaHei"/>
                <a:ea typeface="Microsoft YaHei"/>
              </a:rPr>
              <a:t>05</a:t>
            </a:r>
          </a:p>
        </p:txBody>
      </p:sp>
      <p:pic>
        <p:nvPicPr>
          <p:cNvPr id="9" name="Picture 8" descr="terrain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29329"/>
            <a:ext cx="2651760" cy="19970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645152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48" b="1">
                <a:solidFill>
                  <a:srgbClr val="203A36"/>
                </a:solidFill>
                <a:latin typeface="Microsoft YaHei"/>
                <a:ea typeface="Microsoft YaHei"/>
              </a:rPr>
              <a:t>森林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5221224"/>
            <a:ext cx="27432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627571"/>
                </a:solidFill>
                <a:latin typeface="Microsoft YaHei"/>
                <a:ea typeface="Microsoft YaHei"/>
              </a:rPr>
              <a:t>容积 80  /  生长率 40%</a:t>
            </a:r>
          </a:p>
        </p:txBody>
      </p:sp>
      <p:pic>
        <p:nvPicPr>
          <p:cNvPr id="12" name="Picture 11" descr="terrain-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4487" y="2229329"/>
            <a:ext cx="2651760" cy="19970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04487" y="4645152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48" b="1">
                <a:solidFill>
                  <a:srgbClr val="203A36"/>
                </a:solidFill>
                <a:latin typeface="Microsoft YaHei"/>
                <a:ea typeface="Microsoft YaHei"/>
              </a:rPr>
              <a:t>草地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7912" y="5221224"/>
            <a:ext cx="27432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627571"/>
                </a:solidFill>
                <a:latin typeface="Microsoft YaHei"/>
                <a:ea typeface="Microsoft YaHei"/>
              </a:rPr>
              <a:t>容积 50  /  生长率 30%</a:t>
            </a:r>
          </a:p>
        </p:txBody>
      </p:sp>
      <p:pic>
        <p:nvPicPr>
          <p:cNvPr id="15" name="Picture 14" descr="terrain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1736" y="2229329"/>
            <a:ext cx="2651760" cy="19970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31736" y="4645152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48" b="1">
                <a:solidFill>
                  <a:srgbClr val="203A36"/>
                </a:solidFill>
                <a:latin typeface="Microsoft YaHei"/>
                <a:ea typeface="Microsoft YaHei"/>
              </a:rPr>
              <a:t>荒漠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5221224"/>
            <a:ext cx="27432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627571"/>
                </a:solidFill>
                <a:latin typeface="Microsoft YaHei"/>
                <a:ea typeface="Microsoft YaHei"/>
              </a:rPr>
              <a:t>容积 30  /  生长率 20%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50424" y="2029968"/>
            <a:ext cx="3666744" cy="4343400"/>
          </a:xfrm>
          <a:prstGeom prst="rect">
            <a:avLst/>
          </a:prstGeom>
          <a:solidFill>
            <a:srgbClr val="EDF2F1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errain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9024" y="2453640"/>
            <a:ext cx="1325880" cy="97231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887200" y="2432304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427F9C"/>
                </a:solidFill>
                <a:latin typeface="Microsoft YaHei"/>
                <a:ea typeface="Microsoft YaHei"/>
              </a:rPr>
              <a:t>水域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68912" y="293522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203A36"/>
                </a:solidFill>
                <a:latin typeface="Microsoft YaHei"/>
                <a:ea typeface="Microsoft YaHei"/>
              </a:rPr>
              <a:t>升级概率 ×2</a:t>
            </a:r>
          </a:p>
        </p:txBody>
      </p:sp>
      <p:pic>
        <p:nvPicPr>
          <p:cNvPr id="22" name="Picture 21" descr="libra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0502" y="4059936"/>
            <a:ext cx="1441795" cy="1325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887200" y="4215384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36795A"/>
                </a:solidFill>
                <a:latin typeface="Microsoft YaHei"/>
                <a:ea typeface="Microsoft YaHei"/>
              </a:rPr>
              <a:t>建筑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68912" y="471830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203A36"/>
                </a:solidFill>
                <a:latin typeface="Microsoft YaHei"/>
                <a:ea typeface="Microsoft YaHei"/>
              </a:rPr>
              <a:t>花朵容积 ×2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88168" y="5632704"/>
            <a:ext cx="323697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627571"/>
                </a:solidFill>
                <a:latin typeface="Microsoft YaHei"/>
                <a:ea typeface="Microsoft YaHei"/>
              </a:rPr>
              <a:t>均影响周围 8 格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627571"/>
                </a:solidFill>
                <a:latin typeface="Microsoft YaHei"/>
                <a:ea typeface="Microsoft YaHei"/>
              </a:rPr>
              <a:t>多个同类增益不叠加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6263640"/>
            <a:ext cx="85496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64" b="1">
                <a:solidFill>
                  <a:srgbClr val="36795A"/>
                </a:solidFill>
                <a:latin typeface="Microsoft YaHei"/>
                <a:ea typeface="Microsoft YaHei"/>
              </a:rPr>
              <a:t>荒漠 ⇄ 草地 ⇄ 森林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931152"/>
            <a:ext cx="859536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27571"/>
                </a:solidFill>
                <a:latin typeface="Microsoft YaHei"/>
                <a:ea typeface="Microsoft YaHei"/>
              </a:rPr>
              <a:t>受邻居与天气影响，每次只改变一级。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10896"/>
            <a:ext cx="13752576" cy="438912"/>
          </a:xfrm>
          <a:prstGeom prst="rect">
            <a:avLst/>
          </a:prstGeom>
          <a:solidFill>
            <a:srgbClr val="E7EEE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402336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627571"/>
                </a:solidFill>
                <a:latin typeface="Microsoft YaHei"/>
                <a:ea typeface="Microsoft YaHei"/>
              </a:rPr>
              <a:t>花满洪山  /  HONGSHAN IN BLOOM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02336"/>
            <a:ext cx="362102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627571"/>
                </a:solidFill>
                <a:latin typeface="Microsoft YaHei"/>
                <a:ea typeface="Microsoft YaHei"/>
              </a:rPr>
              <a:t>05 / 放置规则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88136"/>
            <a:ext cx="1335024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887" b="1">
                <a:solidFill>
                  <a:srgbClr val="203A36"/>
                </a:solidFill>
                <a:latin typeface="Microsoft YaHei"/>
                <a:ea typeface="Microsoft YaHei"/>
              </a:rPr>
              <a:t>先规划形状，再把道路连成环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8181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627571"/>
                </a:solidFill>
                <a:latin typeface="Microsoft YaHei"/>
                <a:ea typeface="Microsoft YaHei"/>
              </a:rPr>
              <a:t>洪山区多样性主题游戏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627571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55778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20" b="1">
                <a:solidFill>
                  <a:srgbClr val="203A36"/>
                </a:solidFill>
                <a:latin typeface="Microsoft YaHei"/>
                <a:ea typeface="Microsoft YaHei"/>
              </a:rPr>
              <a:t>开发山体</a:t>
            </a:r>
          </a:p>
        </p:txBody>
      </p:sp>
      <p:pic>
        <p:nvPicPr>
          <p:cNvPr id="10" name="Picture 9" descr="terrain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3497467"/>
            <a:ext cx="2011680" cy="1554705"/>
          </a:xfrm>
          <a:prstGeom prst="rect">
            <a:avLst/>
          </a:prstGeom>
        </p:spPr>
      </p:pic>
      <p:pic>
        <p:nvPicPr>
          <p:cNvPr id="11" name="Picture 10" descr="terrain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3954667"/>
            <a:ext cx="2011680" cy="1554705"/>
          </a:xfrm>
          <a:prstGeom prst="rect">
            <a:avLst/>
          </a:prstGeom>
        </p:spPr>
      </p:pic>
      <p:pic>
        <p:nvPicPr>
          <p:cNvPr id="12" name="Picture 11" descr="terrain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4411867"/>
            <a:ext cx="2011680" cy="155470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0392" y="2761488"/>
            <a:ext cx="51206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43" b="0">
                <a:solidFill>
                  <a:srgbClr val="36795A"/>
                </a:solidFill>
                <a:latin typeface="Microsoft YaHei"/>
                <a:ea typeface="Microsoft YaHei"/>
              </a:rPr>
              <a:t>1–4 格组合，可旋转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27064"/>
            <a:ext cx="5989320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43" b="0">
                <a:solidFill>
                  <a:srgbClr val="627571"/>
                </a:solidFill>
                <a:latin typeface="Microsoft YaHei"/>
                <a:ea typeface="Microsoft YaHei"/>
              </a:rPr>
              <a:t>全部覆盖山体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43" b="0">
                <a:solidFill>
                  <a:srgbClr val="627571"/>
                </a:solidFill>
                <a:latin typeface="Microsoft YaHei"/>
                <a:ea typeface="Microsoft YaHei"/>
              </a:rPr>
              <a:t>至少一格正交邻接已开发区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2121408"/>
            <a:ext cx="6537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20" b="1">
                <a:solidFill>
                  <a:srgbClr val="203A36"/>
                </a:solidFill>
                <a:latin typeface="Microsoft YaHei"/>
                <a:ea typeface="Microsoft YaHei"/>
              </a:rPr>
              <a:t>填补缺口 / 闭合道路</a:t>
            </a:r>
          </a:p>
        </p:txBody>
      </p:sp>
      <p:pic>
        <p:nvPicPr>
          <p:cNvPr id="16" name="Picture 15" descr="terrain-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072" y="3136967"/>
            <a:ext cx="2075687" cy="1599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92640" y="3566160"/>
            <a:ext cx="87782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36795A"/>
                </a:solidFill>
                <a:latin typeface="Microsoft YaHei"/>
                <a:ea typeface="Microsoft YaHei"/>
              </a:rPr>
              <a:t>→</a:t>
            </a:r>
          </a:p>
        </p:txBody>
      </p:sp>
      <p:pic>
        <p:nvPicPr>
          <p:cNvPr id="18" name="Picture 17" descr="libr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7445" y="2834640"/>
            <a:ext cx="2485853" cy="228599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06640" y="5266944"/>
            <a:ext cx="631850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36795A"/>
                </a:solidFill>
                <a:latin typeface="Microsoft YaHei"/>
                <a:ea typeface="Microsoft YaHei"/>
              </a:rPr>
              <a:t>缺口上建建筑，获得 1 级播种卡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8352" y="6062472"/>
            <a:ext cx="630936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27571"/>
                </a:solidFill>
                <a:latin typeface="Microsoft YaHei"/>
                <a:ea typeface="Microsoft YaHei"/>
              </a:rPr>
              <a:t>道路没有开放端点并形成闭合区域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27571"/>
                </a:solidFill>
                <a:latin typeface="Microsoft YaHei"/>
                <a:ea typeface="Microsoft YaHei"/>
              </a:rPr>
              <a:t>满足条件的玩家获卡，每条闭环只奖励一次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7333488"/>
            <a:ext cx="13075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627571"/>
                </a:solidFill>
                <a:latin typeface="Microsoft YaHei"/>
                <a:ea typeface="Microsoft YaHei"/>
              </a:rPr>
              <a:t>内部山体被非可开发地块完全包围后，自动识别为缺口。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10896"/>
            <a:ext cx="13752576" cy="438912"/>
          </a:xfrm>
          <a:prstGeom prst="rect">
            <a:avLst/>
          </a:prstGeom>
          <a:solidFill>
            <a:srgbClr val="E7EEE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402336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627571"/>
                </a:solidFill>
                <a:latin typeface="Microsoft YaHei"/>
                <a:ea typeface="Microsoft YaHei"/>
              </a:rPr>
              <a:t>花满洪山  /  HONGSHAN IN BLOOM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02336"/>
            <a:ext cx="362102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627571"/>
                </a:solidFill>
                <a:latin typeface="Microsoft YaHei"/>
                <a:ea typeface="Microsoft YaHei"/>
              </a:rPr>
              <a:t>06 / 洪山建筑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88136"/>
            <a:ext cx="1335024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887" b="1">
                <a:solidFill>
                  <a:srgbClr val="203A36"/>
                </a:solidFill>
                <a:latin typeface="Microsoft YaHei"/>
                <a:ea typeface="Microsoft YaHei"/>
              </a:rPr>
              <a:t>从真实地标，到棋盘里的城市节点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8181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627571"/>
                </a:solidFill>
                <a:latin typeface="Microsoft YaHei"/>
                <a:ea typeface="Microsoft YaHei"/>
              </a:rPr>
              <a:t>洪山区多样性主题游戏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627571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39112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203A36"/>
                </a:solidFill>
                <a:latin typeface="Microsoft YaHei"/>
                <a:ea typeface="Microsoft YaHei"/>
              </a:rPr>
              <a:t>武汉理工大学南湖图书馆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578608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36795A"/>
                </a:solidFill>
                <a:latin typeface="Microsoft YaHei"/>
                <a:ea typeface="Microsoft YaHei"/>
              </a:rPr>
              <a:t>I 级 · 1×1 缺口</a:t>
            </a:r>
          </a:p>
        </p:txBody>
      </p:sp>
      <p:pic>
        <p:nvPicPr>
          <p:cNvPr id="11" name="Picture 10" descr="photo-library.jpg"/>
          <p:cNvPicPr>
            <a:picLocks noChangeAspect="1"/>
          </p:cNvPicPr>
          <p:nvPr/>
        </p:nvPicPr>
        <p:blipFill>
          <a:blip r:embed="rId3"/>
          <a:srcRect t="535" b="535"/>
          <a:stretch>
            <a:fillRect/>
          </a:stretch>
        </p:blipFill>
        <p:spPr>
          <a:xfrm>
            <a:off x="713232" y="3127248"/>
            <a:ext cx="3621024" cy="2532888"/>
          </a:xfrm>
          <a:prstGeom prst="rect">
            <a:avLst/>
          </a:prstGeom>
        </p:spPr>
      </p:pic>
      <p:pic>
        <p:nvPicPr>
          <p:cNvPr id="12" name="Picture 11" descr="libr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3140772"/>
            <a:ext cx="2724912" cy="250583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5861304"/>
            <a:ext cx="3383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627571"/>
                </a:solidFill>
                <a:latin typeface="Microsoft YaHei"/>
                <a:ea typeface="Microsoft YaHei"/>
              </a:rPr>
              <a:t>实地照片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5861304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627571"/>
                </a:solidFill>
                <a:latin typeface="Microsoft YaHei"/>
                <a:ea typeface="Microsoft YaHei"/>
              </a:rPr>
              <a:t>游戏内建筑模型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473952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>
                <a:solidFill>
                  <a:srgbClr val="203A36"/>
                </a:solidFill>
                <a:latin typeface="Microsoft YaHei"/>
                <a:ea typeface="Microsoft YaHei"/>
              </a:rPr>
              <a:t>阶梯体量 / 知识与公共空间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7077456"/>
            <a:ext cx="640080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627571"/>
                </a:solidFill>
                <a:latin typeface="Microsoft YaHei"/>
                <a:ea typeface="Microsoft YaHei"/>
              </a:rPr>
              <a:t>照片：gooood / 华南理工大学建筑设计研究院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2039112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203A36"/>
                </a:solidFill>
                <a:latin typeface="Microsoft YaHei"/>
                <a:ea typeface="Microsoft YaHei"/>
              </a:rPr>
              <a:t>洪山科创大厦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2578608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36795A"/>
                </a:solidFill>
                <a:latin typeface="Microsoft YaHei"/>
                <a:ea typeface="Microsoft YaHei"/>
              </a:rPr>
              <a:t>II 级 · 1×2 缺口</a:t>
            </a:r>
          </a:p>
        </p:txBody>
      </p:sp>
      <p:pic>
        <p:nvPicPr>
          <p:cNvPr id="19" name="Picture 18" descr="photo-hongshan.jpg"/>
          <p:cNvPicPr>
            <a:picLocks noChangeAspect="1"/>
          </p:cNvPicPr>
          <p:nvPr/>
        </p:nvPicPr>
        <p:blipFill>
          <a:blip r:embed="rId5"/>
          <a:srcRect l="7112" r="7112"/>
          <a:stretch>
            <a:fillRect/>
          </a:stretch>
        </p:blipFill>
        <p:spPr>
          <a:xfrm>
            <a:off x="7699248" y="3127248"/>
            <a:ext cx="3621024" cy="2532888"/>
          </a:xfrm>
          <a:prstGeom prst="rect">
            <a:avLst/>
          </a:prstGeom>
        </p:spPr>
      </p:pic>
      <p:pic>
        <p:nvPicPr>
          <p:cNvPr id="20" name="Picture 19" descr="hongsh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19611" y="3008376"/>
            <a:ext cx="2490825" cy="27706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99248" y="5861304"/>
            <a:ext cx="3383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627571"/>
                </a:solidFill>
                <a:latin typeface="Microsoft YaHei"/>
                <a:ea typeface="Microsoft YaHei"/>
              </a:rPr>
              <a:t>实地照片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48288" y="5861304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627571"/>
                </a:solidFill>
                <a:latin typeface="Microsoft YaHei"/>
                <a:ea typeface="Microsoft YaHei"/>
              </a:rPr>
              <a:t>游戏内建筑模型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6473952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>
                <a:solidFill>
                  <a:srgbClr val="203A36"/>
                </a:solidFill>
                <a:latin typeface="Microsoft YaHei"/>
                <a:ea typeface="Microsoft YaHei"/>
              </a:rPr>
              <a:t>塔楼与裙房 / 科技创新空间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7077456"/>
            <a:ext cx="640080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627571"/>
                </a:solidFill>
                <a:latin typeface="Microsoft YaHei"/>
                <a:ea typeface="Microsoft YaHei"/>
              </a:rPr>
              <a:t>照片：项目招商资料；区校合作背景见武汉市科技局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10896"/>
            <a:ext cx="13752576" cy="438912"/>
          </a:xfrm>
          <a:prstGeom prst="rect">
            <a:avLst/>
          </a:prstGeom>
          <a:solidFill>
            <a:srgbClr val="E7EEE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402336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627571"/>
                </a:solidFill>
                <a:latin typeface="Microsoft YaHei"/>
                <a:ea typeface="Microsoft YaHei"/>
              </a:rPr>
              <a:t>花满洪山  /  HONGSHAN IN BLOOM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02336"/>
            <a:ext cx="362102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627571"/>
                </a:solidFill>
                <a:latin typeface="Microsoft YaHei"/>
                <a:ea typeface="Microsoft YaHei"/>
              </a:rPr>
              <a:t>07 / 高校文化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88136"/>
            <a:ext cx="1335024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887" b="1">
                <a:solidFill>
                  <a:srgbClr val="203A36"/>
                </a:solidFill>
                <a:latin typeface="Microsoft YaHei"/>
                <a:ea typeface="Microsoft YaHei"/>
              </a:rPr>
              <a:t>校园记忆，也可以成为一张建筑卡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8181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627571"/>
                </a:solidFill>
                <a:latin typeface="Microsoft YaHei"/>
                <a:ea typeface="Microsoft YaHei"/>
              </a:rPr>
              <a:t>洪山区多样性主题游戏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627571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39112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203A36"/>
                </a:solidFill>
                <a:latin typeface="Microsoft YaHei"/>
                <a:ea typeface="Microsoft YaHei"/>
              </a:rPr>
              <a:t>华中科技大学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578608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36795A"/>
                </a:solidFill>
                <a:latin typeface="Microsoft YaHei"/>
                <a:ea typeface="Microsoft YaHei"/>
              </a:rPr>
              <a:t>II 级 · 1×2 缺口</a:t>
            </a:r>
          </a:p>
        </p:txBody>
      </p:sp>
      <p:pic>
        <p:nvPicPr>
          <p:cNvPr id="11" name="Picture 10" descr="photo-redhall.jpg"/>
          <p:cNvPicPr>
            <a:picLocks noChangeAspect="1"/>
          </p:cNvPicPr>
          <p:nvPr/>
        </p:nvPicPr>
        <p:blipFill>
          <a:blip r:embed="rId3"/>
          <a:srcRect l="2347" r="2347"/>
          <a:stretch>
            <a:fillRect/>
          </a:stretch>
        </p:blipFill>
        <p:spPr>
          <a:xfrm>
            <a:off x="713232" y="3127248"/>
            <a:ext cx="3621024" cy="2532888"/>
          </a:xfrm>
          <a:prstGeom prst="rect">
            <a:avLst/>
          </a:prstGeom>
        </p:spPr>
      </p:pic>
      <p:pic>
        <p:nvPicPr>
          <p:cNvPr id="12" name="Picture 11" descr="redh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3329835"/>
            <a:ext cx="2724912" cy="21277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5861304"/>
            <a:ext cx="3383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627571"/>
                </a:solidFill>
                <a:latin typeface="Microsoft YaHei"/>
                <a:ea typeface="Microsoft YaHei"/>
              </a:rPr>
              <a:t>实地照片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5861304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627571"/>
                </a:solidFill>
                <a:latin typeface="Microsoft YaHei"/>
                <a:ea typeface="Microsoft YaHei"/>
              </a:rPr>
              <a:t>游戏内建筑模型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473952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>
                <a:solidFill>
                  <a:srgbClr val="203A36"/>
                </a:solidFill>
                <a:latin typeface="Microsoft YaHei"/>
                <a:ea typeface="Microsoft YaHei"/>
              </a:rPr>
              <a:t>红色山墙 / 校园文化记忆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7077456"/>
            <a:ext cx="640080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627571"/>
                </a:solidFill>
                <a:latin typeface="Microsoft YaHei"/>
                <a:ea typeface="Microsoft YaHei"/>
              </a:rPr>
              <a:t>照片：SICAS 校园资料；模型为风格化校园意象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2039112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203A36"/>
                </a:solidFill>
                <a:latin typeface="Microsoft YaHei"/>
                <a:ea typeface="Microsoft YaHei"/>
              </a:rPr>
              <a:t>武汉大学牌坊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2578608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36795A"/>
                </a:solidFill>
                <a:latin typeface="Microsoft YaHei"/>
                <a:ea typeface="Microsoft YaHei"/>
              </a:rPr>
              <a:t>II 级 · 1×2 缺口</a:t>
            </a:r>
          </a:p>
        </p:txBody>
      </p:sp>
      <p:pic>
        <p:nvPicPr>
          <p:cNvPr id="19" name="Picture 18" descr="photo-gate.jpg"/>
          <p:cNvPicPr>
            <a:picLocks noChangeAspect="1"/>
          </p:cNvPicPr>
          <p:nvPr/>
        </p:nvPicPr>
        <p:blipFill>
          <a:blip r:embed="rId5"/>
          <a:srcRect l="746" r="746"/>
          <a:stretch>
            <a:fillRect/>
          </a:stretch>
        </p:blipFill>
        <p:spPr>
          <a:xfrm>
            <a:off x="7699248" y="3127248"/>
            <a:ext cx="3621024" cy="2532888"/>
          </a:xfrm>
          <a:prstGeom prst="rect">
            <a:avLst/>
          </a:prstGeom>
        </p:spPr>
      </p:pic>
      <p:pic>
        <p:nvPicPr>
          <p:cNvPr id="20" name="Picture 19" descr="g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02568" y="3233803"/>
            <a:ext cx="2724912" cy="23197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99248" y="5861304"/>
            <a:ext cx="3383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627571"/>
                </a:solidFill>
                <a:latin typeface="Microsoft YaHei"/>
                <a:ea typeface="Microsoft YaHei"/>
              </a:rPr>
              <a:t>实地照片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48288" y="5861304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627571"/>
                </a:solidFill>
                <a:latin typeface="Microsoft YaHei"/>
                <a:ea typeface="Microsoft YaHei"/>
              </a:rPr>
              <a:t>游戏内建筑模型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6473952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>
                <a:solidFill>
                  <a:srgbClr val="203A36"/>
                </a:solidFill>
                <a:latin typeface="Microsoft YaHei"/>
                <a:ea typeface="Microsoft YaHei"/>
              </a:rPr>
              <a:t>牌坊轮廓 / 周边高校文化联动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7077456"/>
            <a:ext cx="640080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627571"/>
                </a:solidFill>
                <a:latin typeface="Microsoft YaHei"/>
                <a:ea typeface="Microsoft YaHei"/>
              </a:rPr>
              <a:t>照片：新浪校园图文；本部地址属武昌区，非洪山区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10896"/>
            <a:ext cx="13752576" cy="438912"/>
          </a:xfrm>
          <a:prstGeom prst="rect">
            <a:avLst/>
          </a:prstGeom>
          <a:solidFill>
            <a:srgbClr val="E7EEE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402336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627571"/>
                </a:solidFill>
                <a:latin typeface="Microsoft YaHei"/>
                <a:ea typeface="Microsoft YaHei"/>
              </a:rPr>
              <a:t>花满洪山  /  HONGSHAN IN BLOOM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02336"/>
            <a:ext cx="362102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627571"/>
                </a:solidFill>
                <a:latin typeface="Microsoft YaHei"/>
                <a:ea typeface="Microsoft YaHei"/>
              </a:rPr>
              <a:t>08 / 设计价值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88136"/>
            <a:ext cx="1335024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887" b="1">
                <a:solidFill>
                  <a:srgbClr val="203A36"/>
                </a:solidFill>
                <a:latin typeface="Microsoft YaHei"/>
                <a:ea typeface="Microsoft YaHei"/>
              </a:rPr>
              <a:t>让玩家记住的，不止是建筑的名字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8181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627571"/>
                </a:solidFill>
                <a:latin typeface="Microsoft YaHei"/>
                <a:ea typeface="Microsoft YaHei"/>
              </a:rPr>
              <a:t>洪山区多样性主题游戏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627571"/>
                </a:solidFill>
                <a:latin typeface="Microsoft YaHei"/>
                <a:ea typeface="Microsoft YaHei"/>
              </a:rPr>
              <a:t>09</a:t>
            </a:r>
          </a:p>
        </p:txBody>
      </p:sp>
      <p:pic>
        <p:nvPicPr>
          <p:cNvPr id="9" name="Picture 8" descr="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5" y="2435161"/>
            <a:ext cx="8961120" cy="42005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149840" y="2286000"/>
            <a:ext cx="9144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24" b="1">
                <a:solidFill>
                  <a:srgbClr val="36795A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2916936"/>
            <a:ext cx="3749039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>
                <a:solidFill>
                  <a:srgbClr val="203A36"/>
                </a:solidFill>
                <a:latin typeface="Microsoft YaHei"/>
                <a:ea typeface="Microsoft YaHei"/>
              </a:rPr>
              <a:t>看见地方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3419856"/>
            <a:ext cx="374903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627571"/>
                </a:solidFill>
                <a:latin typeface="Microsoft YaHei"/>
                <a:ea typeface="Microsoft YaHei"/>
              </a:rPr>
              <a:t>以真实地标建立辨识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4946904"/>
            <a:ext cx="374903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>
                <a:solidFill>
                  <a:srgbClr val="36795A"/>
                </a:solidFill>
                <a:latin typeface="Microsoft YaHei"/>
                <a:ea typeface="Microsoft YaHei"/>
              </a:rPr>
              <a:t>02  理解关系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5513832"/>
            <a:ext cx="3794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27571"/>
                </a:solidFill>
                <a:latin typeface="Microsoft YaHei"/>
                <a:ea typeface="Microsoft YaHei"/>
              </a:rPr>
              <a:t>把空间影响转化为策略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6949440"/>
            <a:ext cx="126187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168" b="1">
                <a:solidFill>
                  <a:srgbClr val="203A36"/>
                </a:solidFill>
                <a:latin typeface="Microsoft YaHei"/>
                <a:ea typeface="Microsoft YaHei"/>
              </a:rPr>
              <a:t>一城山水，四季花开。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10896"/>
            <a:ext cx="13752576" cy="438912"/>
          </a:xfrm>
          <a:prstGeom prst="rect">
            <a:avLst/>
          </a:prstGeom>
          <a:solidFill>
            <a:srgbClr val="E7EEE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402336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627571"/>
                </a:solidFill>
                <a:latin typeface="Microsoft YaHei"/>
                <a:ea typeface="Microsoft YaHei"/>
              </a:rPr>
              <a:t>花满洪山  /  HONGSHAN IN BLOOM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02336"/>
            <a:ext cx="362102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627571"/>
                </a:solidFill>
                <a:latin typeface="Microsoft YaHei"/>
                <a:ea typeface="Microsoft YaHei"/>
              </a:rPr>
              <a:t>附录 / 不计入讲解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88136"/>
            <a:ext cx="1335024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887" b="1">
                <a:solidFill>
                  <a:srgbClr val="203A36"/>
                </a:solidFill>
                <a:latin typeface="Microsoft YaHei"/>
                <a:ea typeface="Microsoft YaHei"/>
              </a:rPr>
              <a:t>资料来源与版本说明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8181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627571"/>
                </a:solidFill>
                <a:latin typeface="Microsoft YaHei"/>
                <a:ea typeface="Microsoft YaHei"/>
              </a:rPr>
              <a:t>洪山区多样性主题游戏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0" y="7772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627571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128016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>
                <a:solidFill>
                  <a:srgbClr val="36795A"/>
                </a:solidFill>
                <a:latin typeface="Microsoft YaHei"/>
                <a:ea typeface="Microsoft YaHei"/>
              </a:rPr>
              <a:t>01  游戏规则与模型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23744"/>
            <a:ext cx="1280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627571"/>
                </a:solidFill>
                <a:latin typeface="Microsoft YaHei"/>
                <a:ea typeface="Microsoft YaHei"/>
              </a:rPr>
              <a:t>README.md、scripts/main3d.gd；版本 8e40b2d。地块为源码网格离线投影，建筑直接取现有 SVG。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36392"/>
            <a:ext cx="128016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>
                <a:solidFill>
                  <a:srgbClr val="36795A"/>
                </a:solidFill>
                <a:latin typeface="Microsoft YaHei"/>
                <a:ea typeface="Microsoft YaHei"/>
              </a:rPr>
              <a:t>02  图书馆照片 / 项目信息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38728"/>
            <a:ext cx="1280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627571"/>
                </a:solidFill>
                <a:latin typeface="Microsoft YaHei"/>
                <a:ea typeface="Microsoft YaHei"/>
                <a:hlinkClick r:id="rId3"/>
              </a:rPr>
              <a:t>gooood：武汉理工大学南湖校区图书馆；设计方供稿，摄影：邵峰。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51376"/>
            <a:ext cx="128016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>
                <a:solidFill>
                  <a:srgbClr val="36795A"/>
                </a:solidFill>
                <a:latin typeface="Microsoft YaHei"/>
                <a:ea typeface="Microsoft YaHei"/>
              </a:rPr>
              <a:t>03  洪山科创大厦照片 / 地域依据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53712"/>
            <a:ext cx="1280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627571"/>
                </a:solidFill>
                <a:latin typeface="Microsoft YaHei"/>
                <a:ea typeface="Microsoft YaHei"/>
                <a:hlinkClick r:id="rId4"/>
              </a:rPr>
              <a:t>项目招商资料；武汉市科学技术局《工作动态》（2024-06-18）。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66360"/>
            <a:ext cx="128016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>
                <a:solidFill>
                  <a:srgbClr val="36795A"/>
                </a:solidFill>
                <a:latin typeface="Microsoft YaHei"/>
                <a:ea typeface="Microsoft YaHei"/>
              </a:rPr>
              <a:t>04  高校照片 / 地域核实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68696"/>
            <a:ext cx="1280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627571"/>
                </a:solidFill>
                <a:latin typeface="Microsoft YaHei"/>
                <a:ea typeface="Microsoft YaHei"/>
                <a:hlinkClick r:id="rId5"/>
              </a:rPr>
              <a:t>华中科技大学：SICAS 校园资料；武汉大学牌坊：新浪校园图文。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81344"/>
            <a:ext cx="128016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>
                <a:solidFill>
                  <a:srgbClr val="36795A"/>
                </a:solidFill>
                <a:latin typeface="Microsoft YaHei"/>
                <a:ea typeface="Microsoft YaHei"/>
              </a:rPr>
              <a:t>05  地理口径与图片权利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583680"/>
            <a:ext cx="1280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627571"/>
                </a:solidFill>
                <a:latin typeface="Microsoft YaHei"/>
                <a:ea typeface="Microsoft YaHei"/>
                <a:hlinkClick r:id="rId6"/>
              </a:rPr>
              <a:t>武大本部属武昌区；照片权利归原作者，公开展播前需确认授权。完整链接见配套来源文档。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花满洪山 | 洪山区多样性主题游戏</dc:title>
  <dc:subject>玩法、规则与城市建筑；约3分46秒</dc:subject>
  <dc:creator>花满洪山项目组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